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38" r:id="rId1"/>
  </p:sldMasterIdLst>
  <p:notesMasterIdLst>
    <p:notesMasterId r:id="rId17"/>
  </p:notesMasterIdLst>
  <p:sldIdLst>
    <p:sldId id="273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84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B33"/>
                </a:solidFill>
                <a:latin typeface="+mn-lt"/>
              </a:defRPr>
            </a:pPr>
            <a:r>
              <a:rPr lang="en-IN" sz="1400" b="0" i="0" u="none" strike="noStrike">
                <a:solidFill>
                  <a:srgbClr val="1E2B33"/>
                </a:solidFill>
                <a:latin typeface="+mn-lt"/>
              </a:rPr>
              <a:t>Response latency (ms)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Latency (ms)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Average</c:v>
                </c:pt>
                <c:pt idx="1">
                  <c:v>P95</c:v>
                </c:pt>
                <c:pt idx="2">
                  <c:v>P99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310</c:v>
                </c:pt>
                <c:pt idx="2">
                  <c:v>480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9A5-464F-A3A4-9D818CDABC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0"/>
        </c:scaling>
        <c:delete val="0"/>
        <c:axPos val="l"/>
        <c:majorGridlines>
          <c:spPr>
            <a:ln w="6350" cap="flat">
              <a:solidFill>
                <a:srgbClr val="D5E2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587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slide. CloudMonitor is a self-hosted Docker host and container observability platform, built as a Cloud Computing mini project. The ship illustration is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085850"/>
            <a:ext cx="6619244" cy="2497186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7542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98011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2146300"/>
            <a:ext cx="6619243" cy="143673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92453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485" y="1545432"/>
            <a:ext cx="3297254" cy="3146822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0870" y="1542069"/>
            <a:ext cx="3297256" cy="315018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5041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5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485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0872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0872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4440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2558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69680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1085850"/>
            <a:ext cx="2550798" cy="10858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8462" y="1085850"/>
            <a:ext cx="3896998" cy="34290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2346961"/>
            <a:ext cx="2550797" cy="217169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87860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430" y="1390644"/>
            <a:ext cx="3819680" cy="1181106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2160" y="857250"/>
            <a:ext cx="2400300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3813734" cy="1028700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57495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3600440"/>
            <a:ext cx="6619243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730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7" y="4025494"/>
            <a:ext cx="6619242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62582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6619244" cy="14859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6619244" cy="177165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8262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101" y="1085850"/>
            <a:ext cx="5999486" cy="1742531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7800" y="2828380"/>
            <a:ext cx="5459737" cy="256631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262993"/>
            <a:ext cx="6619244" cy="125730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721" y="728440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7868" y="1960341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0011292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343151"/>
            <a:ext cx="6619245" cy="123988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542783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710" y="1485900"/>
            <a:ext cx="221015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347" y="2000250"/>
            <a:ext cx="2195513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2745" y="1485900"/>
            <a:ext cx="220218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4829" y="2000250"/>
            <a:ext cx="2210096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1485900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3525" y="2000250"/>
            <a:ext cx="2199085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29803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47" y="3188212"/>
            <a:ext cx="220503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347" y="1657350"/>
            <a:ext cx="2205038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347" y="3620409"/>
            <a:ext cx="220503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032" y="3188212"/>
            <a:ext cx="219789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031" y="1657350"/>
            <a:ext cx="2197894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016" y="3620408"/>
            <a:ext cx="2200805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3188212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3525" y="1657350"/>
            <a:ext cx="2199085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3432" y="3620406"/>
            <a:ext cx="220199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08913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9688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8159" y="322660"/>
            <a:ext cx="1314451" cy="4369594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348" y="665561"/>
            <a:ext cx="5567362" cy="40266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7834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371600"/>
            <a:ext cx="493776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Title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366010"/>
            <a:ext cx="5074920" cy="6172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950" dirty="0">
                <a:solidFill>
                  <a:schemeClr val="accent3"/>
                </a:solidFill>
              </a:defRPr>
            </a:lvl1pPr>
          </a:lstStyle>
          <a:p>
            <a:pPr marL="0" indent="0" algn="l">
              <a:buNone/>
            </a:pPr>
            <a:r>
              <a:rPr lang="en-US" sz="1950" dirty="0">
                <a:solidFill>
                  <a:schemeClr val="accent3"/>
                </a:solidFill>
              </a:rPr>
              <a:t>Subtitle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1437479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578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1">
            <a:alphaModFix amt="23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4"/>
            <a:ext cx="3027759" cy="31412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1"/>
            <a:ext cx="1141809" cy="17740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60" y="1"/>
            <a:ext cx="1202540" cy="85605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4572000"/>
            <a:ext cx="745301" cy="571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584" y="339538"/>
            <a:ext cx="7053542" cy="10503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4" y="1539689"/>
            <a:ext cx="6709906" cy="3146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616730" y="1343026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10/31/2026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713680" y="2418973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7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9" r:id="rId1"/>
    <p:sldLayoutId id="2147484040" r:id="rId2"/>
    <p:sldLayoutId id="2147484041" r:id="rId3"/>
    <p:sldLayoutId id="2147484042" r:id="rId4"/>
    <p:sldLayoutId id="2147484043" r:id="rId5"/>
    <p:sldLayoutId id="2147484044" r:id="rId6"/>
    <p:sldLayoutId id="2147484045" r:id="rId7"/>
    <p:sldLayoutId id="2147484046" r:id="rId8"/>
    <p:sldLayoutId id="2147484047" r:id="rId9"/>
    <p:sldLayoutId id="2147484048" r:id="rId10"/>
    <p:sldLayoutId id="2147484049" r:id="rId11"/>
    <p:sldLayoutId id="2147484050" r:id="rId12"/>
    <p:sldLayoutId id="2147484051" r:id="rId13"/>
    <p:sldLayoutId id="2147484052" r:id="rId14"/>
    <p:sldLayoutId id="2147484053" r:id="rId15"/>
    <p:sldLayoutId id="2147484054" r:id="rId16"/>
    <p:sldLayoutId id="2147484055" r:id="rId17"/>
    <p:sldLayoutId id="2147484056" r:id="rId18"/>
    <p:sldLayoutId id="2147484057" r:id="rId19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315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5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35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87950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yushcmd/cloud_monito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://3.25.150.231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art" descr="Decorative container ship illustration on a dark blue background"/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" y="0"/>
            <a:ext cx="9143771" cy="5143500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Text 0"/>
          <p:cNvSpPr txBox="1"/>
          <p:nvPr/>
        </p:nvSpPr>
        <p:spPr>
          <a:xfrm>
            <a:off x="548640" y="106299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spc="150" dirty="0">
                <a:solidFill>
                  <a:schemeClr val="bg1"/>
                </a:solidFill>
              </a:rPr>
              <a:t>CLOUD COMPUTING MINI PROJECT</a:t>
            </a: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dirty="0"/>
              <a:t>CloudMonitor</a:t>
            </a:r>
          </a:p>
        </p:txBody>
      </p:sp>
      <p:sp>
        <p:nvSpPr>
          <p:cNvPr id="5" name="Text 0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solidFill>
                  <a:schemeClr val="tx2">
                    <a:lumMod val="10000"/>
                  </a:schemeClr>
                </a:solidFill>
              </a:rPr>
              <a:t>Docker Monitoring &amp; Observability Platform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548640" y="3703320"/>
            <a:ext cx="31546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25" b="1" dirty="0">
                <a:solidFill>
                  <a:schemeClr val="bg1"/>
                </a:solidFill>
              </a:rPr>
              <a:t>IITP – BSc CSDA </a:t>
            </a:r>
          </a:p>
          <a:p>
            <a:r>
              <a:rPr lang="en-US" sz="1125" b="1" dirty="0">
                <a:solidFill>
                  <a:schemeClr val="bg1"/>
                </a:solidFill>
              </a:rPr>
              <a:t>5</a:t>
            </a:r>
            <a:r>
              <a:rPr lang="en-US" sz="1125" b="1" baseline="30000" dirty="0">
                <a:solidFill>
                  <a:schemeClr val="bg1"/>
                </a:solidFill>
              </a:rPr>
              <a:t>th</a:t>
            </a:r>
            <a:r>
              <a:rPr lang="en-US" sz="1125" b="1" dirty="0">
                <a:solidFill>
                  <a:schemeClr val="bg1"/>
                </a:solidFill>
              </a:rPr>
              <a:t> Semester </a:t>
            </a:r>
          </a:p>
          <a:p>
            <a:r>
              <a:rPr lang="en-US" sz="1125" b="1" dirty="0">
                <a:solidFill>
                  <a:schemeClr val="bg1"/>
                </a:solidFill>
              </a:rPr>
              <a:t>2026</a:t>
            </a:r>
            <a:endParaRPr lang="en-US" sz="1125" b="1" dirty="0"/>
          </a:p>
        </p:txBody>
      </p:sp>
      <p:sp>
        <p:nvSpPr>
          <p:cNvPr id="7" name="Cover description"/>
          <p:cNvSpPr txBox="1"/>
          <p:nvPr/>
        </p:nvSpPr>
        <p:spPr>
          <a:xfrm>
            <a:off x="548640" y="3120390"/>
            <a:ext cx="31546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25" dirty="0">
                <a:solidFill>
                  <a:schemeClr val="bg1"/>
                </a:solidFill>
              </a:rPr>
              <a:t>A self-hosted dashboard for Docker host and container telemetry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397764" y="754380"/>
            <a:ext cx="8229600" cy="175433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lang="en-US" sz="1050" dirty="0">
                <a:solidFill>
                  <a:srgbClr val="5B6D7C"/>
                </a:solidFill>
                <a:latin typeface="Aptos"/>
              </a:rPr>
              <a:t>                                                        </a:t>
            </a:r>
            <a:r>
              <a:rPr sz="1050" dirty="0">
                <a:solidFill>
                  <a:srgbClr val="5B6D7C"/>
                </a:solidFill>
                <a:latin typeface="Aptos"/>
              </a:rPr>
              <a:t>Centralized monitoring for Docker hosts and containers — from one web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083564"/>
            <a:ext cx="8380476" cy="706374"/>
          </a:xfrm>
          <a:prstGeom prst="roundRect">
            <a:avLst/>
          </a:prstGeom>
          <a:solidFill>
            <a:srgbClr val="FFFFFF"/>
          </a:solidFill>
          <a:ln>
            <a:solidFill>
              <a:srgbClr val="D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" name="TextBox 7"/>
          <p:cNvSpPr txBox="1"/>
          <p:nvPr/>
        </p:nvSpPr>
        <p:spPr>
          <a:xfrm>
            <a:off x="473202" y="1179576"/>
            <a:ext cx="1923669" cy="229294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400" b="1" dirty="0">
                <a:solidFill>
                  <a:srgbClr val="00A0B4"/>
                </a:solidFill>
                <a:latin typeface="Aptos"/>
              </a:rPr>
              <a:t>DOMAIN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202" y="1344168"/>
            <a:ext cx="1923669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200" b="1" dirty="0">
                <a:solidFill>
                  <a:srgbClr val="202D3A"/>
                </a:solidFill>
                <a:latin typeface="Aptos"/>
              </a:rPr>
              <a:t>IT Operations &amp; DevOps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72309" y="1220724"/>
            <a:ext cx="8229" cy="425196"/>
          </a:xfrm>
          <a:prstGeom prst="rect">
            <a:avLst/>
          </a:prstGeom>
          <a:solidFill>
            <a:srgbClr val="D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" name="TextBox 10"/>
          <p:cNvSpPr txBox="1"/>
          <p:nvPr/>
        </p:nvSpPr>
        <p:spPr>
          <a:xfrm>
            <a:off x="2568321" y="1179576"/>
            <a:ext cx="1923669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200" b="1" dirty="0">
                <a:solidFill>
                  <a:srgbClr val="00A0B4"/>
                </a:solidFill>
                <a:latin typeface="Aptos"/>
              </a:rPr>
              <a:t>USE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8321" y="1344168"/>
            <a:ext cx="1923669" cy="183127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100" b="1" dirty="0">
                <a:solidFill>
                  <a:srgbClr val="202D3A"/>
                </a:solidFill>
                <a:latin typeface="Aptos"/>
              </a:rPr>
              <a:t>Host + container monitoring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67428" y="1220724"/>
            <a:ext cx="8229" cy="425196"/>
          </a:xfrm>
          <a:prstGeom prst="rect">
            <a:avLst/>
          </a:prstGeom>
          <a:solidFill>
            <a:srgbClr val="D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" name="TextBox 13"/>
          <p:cNvSpPr txBox="1"/>
          <p:nvPr/>
        </p:nvSpPr>
        <p:spPr>
          <a:xfrm>
            <a:off x="4663440" y="1179576"/>
            <a:ext cx="1923669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200" b="1" dirty="0">
                <a:solidFill>
                  <a:srgbClr val="00A0B4"/>
                </a:solidFill>
                <a:latin typeface="Aptos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344168"/>
            <a:ext cx="1923669" cy="352404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100" b="1" dirty="0">
                <a:solidFill>
                  <a:srgbClr val="202D3A"/>
                </a:solidFill>
                <a:latin typeface="Aptos"/>
              </a:rPr>
              <a:t>One health view; less manual inspection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62547" y="1220724"/>
            <a:ext cx="8229" cy="425196"/>
          </a:xfrm>
          <a:prstGeom prst="rect">
            <a:avLst/>
          </a:prstGeom>
          <a:solidFill>
            <a:srgbClr val="D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7" name="TextBox 16"/>
          <p:cNvSpPr txBox="1"/>
          <p:nvPr/>
        </p:nvSpPr>
        <p:spPr>
          <a:xfrm>
            <a:off x="6758559" y="1179576"/>
            <a:ext cx="1923669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lang="en-IN" sz="1200" b="1" dirty="0">
                <a:solidFill>
                  <a:srgbClr val="00A0B4"/>
                </a:solidFill>
                <a:latin typeface="Aptos"/>
              </a:rPr>
              <a:t>OBJECTIVE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8559" y="1344168"/>
            <a:ext cx="1923669" cy="352404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lang="en-US" sz="1100" b="1" dirty="0">
                <a:solidFill>
                  <a:srgbClr val="202D3A"/>
                </a:solidFill>
                <a:latin typeface="Aptos"/>
              </a:rPr>
              <a:t>Reliable monitoring on AWS EC2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" y="1885950"/>
            <a:ext cx="8229600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200" b="1" dirty="0">
                <a:solidFill>
                  <a:srgbClr val="0F233A"/>
                </a:solidFill>
                <a:latin typeface="Aptos"/>
              </a:rPr>
              <a:t>TECHNOLOGY &amp; AWS IMPLEMENTATION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7190" y="2112264"/>
            <a:ext cx="8380476" cy="589788"/>
          </a:xfrm>
          <a:prstGeom prst="roundRect">
            <a:avLst/>
          </a:prstGeom>
          <a:solidFill>
            <a:srgbClr val="E2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1" name="TextBox 20"/>
          <p:cNvSpPr txBox="1"/>
          <p:nvPr/>
        </p:nvSpPr>
        <p:spPr>
          <a:xfrm>
            <a:off x="459486" y="2187703"/>
            <a:ext cx="1957959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200" b="1" dirty="0">
                <a:solidFill>
                  <a:srgbClr val="00A0B4"/>
                </a:solidFill>
                <a:latin typeface="Aptos"/>
              </a:rPr>
              <a:t>APPLICATION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486" y="2345436"/>
            <a:ext cx="1957959" cy="152349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900" b="1" dirty="0">
                <a:solidFill>
                  <a:srgbClr val="202D3A"/>
                </a:solidFill>
                <a:latin typeface="Aptos"/>
              </a:rPr>
              <a:t>React · TypeScript · Vite · Tailwind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4605" y="2187703"/>
            <a:ext cx="1957959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200" b="1" dirty="0">
                <a:solidFill>
                  <a:srgbClr val="00A0B4"/>
                </a:solidFill>
                <a:latin typeface="Aptos"/>
              </a:rPr>
              <a:t>METRICS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4605" y="2345436"/>
            <a:ext cx="1957959" cy="136961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800" b="1" dirty="0">
                <a:solidFill>
                  <a:srgbClr val="202D3A"/>
                </a:solidFill>
                <a:latin typeface="Aptos"/>
              </a:rPr>
              <a:t>Prometheus · Node Exporter · </a:t>
            </a:r>
            <a:r>
              <a:rPr sz="800" b="1" dirty="0" err="1">
                <a:solidFill>
                  <a:srgbClr val="202D3A"/>
                </a:solidFill>
                <a:latin typeface="Aptos"/>
              </a:rPr>
              <a:t>cAdvisor</a:t>
            </a:r>
            <a:endParaRPr sz="800" b="1" dirty="0">
              <a:solidFill>
                <a:srgbClr val="202D3A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49724" y="2187703"/>
            <a:ext cx="1957959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200" b="1" dirty="0">
                <a:solidFill>
                  <a:srgbClr val="00A0B4"/>
                </a:solidFill>
                <a:latin typeface="Aptos"/>
              </a:rPr>
              <a:t>VISUALIZATION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9724" y="2345436"/>
            <a:ext cx="1957959" cy="152349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900" b="1" dirty="0">
                <a:solidFill>
                  <a:srgbClr val="202D3A"/>
                </a:solidFill>
                <a:latin typeface="Aptos"/>
              </a:rPr>
              <a:t>Grafana · </a:t>
            </a:r>
            <a:r>
              <a:rPr sz="900" b="1" dirty="0" err="1">
                <a:solidFill>
                  <a:srgbClr val="202D3A"/>
                </a:solidFill>
                <a:latin typeface="Aptos"/>
              </a:rPr>
              <a:t>Alertmanager</a:t>
            </a:r>
            <a:endParaRPr sz="900" b="1" dirty="0">
              <a:solidFill>
                <a:srgbClr val="202D3A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44843" y="2187703"/>
            <a:ext cx="1957959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200" b="1" dirty="0">
                <a:solidFill>
                  <a:srgbClr val="00A0B4"/>
                </a:solidFill>
                <a:latin typeface="Aptos"/>
              </a:rPr>
              <a:t>AWS / 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4843" y="2345436"/>
            <a:ext cx="1957959" cy="260071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800" b="1" dirty="0">
                <a:solidFill>
                  <a:srgbClr val="202D3A"/>
                </a:solidFill>
                <a:latin typeface="Aptos"/>
              </a:rPr>
              <a:t>EC2 Ubuntu · Docker Compose · IAM · Security Groups · EBS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" y="2756915"/>
            <a:ext cx="8229600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sz="1200" b="1" dirty="0">
                <a:solidFill>
                  <a:srgbClr val="0F233A"/>
                </a:solidFill>
                <a:latin typeface="Aptos"/>
              </a:rPr>
              <a:t>TEAM RESPONSIBILITIES  |  THREE WORKSTREAMS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7190" y="3003804"/>
            <a:ext cx="2729484" cy="1831086"/>
          </a:xfrm>
          <a:prstGeom prst="roundRect">
            <a:avLst/>
          </a:prstGeom>
          <a:solidFill>
            <a:srgbClr val="FFFFFF"/>
          </a:solidFill>
          <a:ln>
            <a:solidFill>
              <a:srgbClr val="D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1" name="Rounded Rectangle 30"/>
          <p:cNvSpPr/>
          <p:nvPr/>
        </p:nvSpPr>
        <p:spPr>
          <a:xfrm>
            <a:off x="377190" y="3003804"/>
            <a:ext cx="2729484" cy="500267"/>
          </a:xfrm>
          <a:prstGeom prst="roundRect">
            <a:avLst/>
          </a:prstGeom>
          <a:solidFill>
            <a:srgbClr val="00A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3" name="TextBox 32"/>
          <p:cNvSpPr txBox="1"/>
          <p:nvPr/>
        </p:nvSpPr>
        <p:spPr>
          <a:xfrm>
            <a:off x="774953" y="3092958"/>
            <a:ext cx="2235708" cy="875624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lang="en-US" sz="1400" b="1" dirty="0">
                <a:solidFill>
                  <a:srgbClr val="0F233A"/>
                </a:solidFill>
                <a:latin typeface="Aptos"/>
              </a:rPr>
              <a:t>     </a:t>
            </a:r>
            <a:r>
              <a:rPr sz="1400" b="1" dirty="0">
                <a:solidFill>
                  <a:srgbClr val="0F233A"/>
                </a:solidFill>
                <a:latin typeface="Aptos"/>
              </a:rPr>
              <a:t>SARNENDU DAS</a:t>
            </a:r>
            <a:endParaRPr lang="en-US" sz="1400" b="1" dirty="0">
              <a:solidFill>
                <a:srgbClr val="0F233A"/>
              </a:solidFill>
              <a:latin typeface="Aptos"/>
            </a:endParaRPr>
          </a:p>
          <a:p>
            <a:pPr algn="l"/>
            <a:endParaRPr lang="en-US" sz="1400" b="1" dirty="0">
              <a:solidFill>
                <a:srgbClr val="0F233A"/>
              </a:solidFill>
              <a:latin typeface="Aptos"/>
            </a:endParaRPr>
          </a:p>
          <a:p>
            <a:pPr algn="l"/>
            <a:endParaRPr lang="en-US" sz="1400" b="1" dirty="0">
              <a:solidFill>
                <a:srgbClr val="0F233A"/>
              </a:solidFill>
              <a:latin typeface="Aptos"/>
            </a:endParaRPr>
          </a:p>
          <a:p>
            <a:endParaRPr sz="1400" b="1" dirty="0">
              <a:solidFill>
                <a:srgbClr val="0F233A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3202" y="3312414"/>
            <a:ext cx="2537460" cy="183127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r>
              <a:rPr lang="en-US" sz="1100" b="1" i="1" dirty="0">
                <a:solidFill>
                  <a:schemeClr val="bg2">
                    <a:lumMod val="90000"/>
                  </a:schemeClr>
                </a:solidFill>
                <a:latin typeface="Aptos"/>
              </a:rPr>
              <a:t>                        </a:t>
            </a:r>
            <a:r>
              <a:rPr lang="en-IN" sz="1100" b="1" i="1" dirty="0"/>
              <a:t>24a12res592</a:t>
            </a:r>
            <a:endParaRPr sz="1100" b="1" i="1" dirty="0">
              <a:solidFill>
                <a:schemeClr val="bg2">
                  <a:lumMod val="90000"/>
                </a:schemeClr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3202" y="3552444"/>
            <a:ext cx="2558034" cy="1115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lang="en-IN" sz="900" b="1" dirty="0">
                <a:solidFill>
                  <a:schemeClr val="accent1">
                    <a:lumMod val="75000"/>
                  </a:schemeClr>
                </a:solidFill>
                <a:latin typeface="Aptos"/>
              </a:rPr>
              <a:t>Backend &amp; Monitoring API</a:t>
            </a:r>
            <a:endParaRPr lang="en-US" sz="900" b="1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sz="900" dirty="0"/>
              <a:t>• Custom backend service + REST/metrics endpoints</a:t>
            </a:r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sz="900" dirty="0"/>
              <a:t>• Metric ingestion, processing and health checks</a:t>
            </a:r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sz="900" dirty="0"/>
              <a:t>• Database / persistence and API integration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2686" y="3003804"/>
            <a:ext cx="2729484" cy="1831086"/>
          </a:xfrm>
          <a:prstGeom prst="roundRect">
            <a:avLst/>
          </a:prstGeom>
          <a:solidFill>
            <a:srgbClr val="FFFFFF"/>
          </a:solidFill>
          <a:ln>
            <a:solidFill>
              <a:srgbClr val="D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7" name="Rounded Rectangle 36"/>
          <p:cNvSpPr/>
          <p:nvPr/>
        </p:nvSpPr>
        <p:spPr>
          <a:xfrm>
            <a:off x="3202686" y="3003803"/>
            <a:ext cx="2729484" cy="548641"/>
          </a:xfrm>
          <a:prstGeom prst="roundRect">
            <a:avLst/>
          </a:prstGeom>
          <a:solidFill>
            <a:srgbClr val="00A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9" name="TextBox 38"/>
          <p:cNvSpPr txBox="1"/>
          <p:nvPr/>
        </p:nvSpPr>
        <p:spPr>
          <a:xfrm>
            <a:off x="3600450" y="3092958"/>
            <a:ext cx="2235708" cy="198516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lang="en-US" sz="1200" b="1" dirty="0">
                <a:solidFill>
                  <a:srgbClr val="0F233A"/>
                </a:solidFill>
                <a:latin typeface="Aptos"/>
              </a:rPr>
              <a:t>    </a:t>
            </a:r>
            <a:r>
              <a:rPr sz="1200" b="1" dirty="0">
                <a:solidFill>
                  <a:srgbClr val="0F233A"/>
                </a:solidFill>
                <a:latin typeface="Aptos"/>
              </a:rPr>
              <a:t>PARVEEN KUMAR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98698" y="3312414"/>
            <a:ext cx="2537460" cy="183127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r>
              <a:rPr lang="en-IN" sz="1100" b="1" i="1" dirty="0"/>
              <a:t>                24a12res426</a:t>
            </a:r>
            <a:endParaRPr sz="1100" b="1" i="1" dirty="0">
              <a:solidFill>
                <a:schemeClr val="bg2">
                  <a:lumMod val="90000"/>
                </a:schemeClr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298698" y="3552444"/>
            <a:ext cx="2558034" cy="977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lang="en-US" sz="900" b="1" dirty="0">
                <a:solidFill>
                  <a:schemeClr val="bg2">
                    <a:lumMod val="90000"/>
                  </a:schemeClr>
                </a:solidFill>
                <a:latin typeface="Aptos"/>
              </a:rPr>
              <a:t> </a:t>
            </a: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ptos"/>
              </a:rPr>
              <a:t>Frontend &amp; Dashboard</a:t>
            </a:r>
            <a:endParaRPr lang="en-US" sz="900" dirty="0"/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sz="900" dirty="0"/>
              <a:t>• React + TypeScript dashboard interface</a:t>
            </a:r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sz="900" dirty="0"/>
              <a:t>• Host/container status and metric visualizations</a:t>
            </a:r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sz="900" dirty="0"/>
              <a:t>• Frontend ↔ backend integration and UX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28182" y="3003803"/>
            <a:ext cx="2729484" cy="1831087"/>
          </a:xfrm>
          <a:prstGeom prst="roundRect">
            <a:avLst/>
          </a:prstGeom>
          <a:solidFill>
            <a:srgbClr val="FFFFFF"/>
          </a:solidFill>
          <a:ln>
            <a:solidFill>
              <a:srgbClr val="D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3" name="Rounded Rectangle 42"/>
          <p:cNvSpPr/>
          <p:nvPr/>
        </p:nvSpPr>
        <p:spPr>
          <a:xfrm>
            <a:off x="6028182" y="3003804"/>
            <a:ext cx="2729484" cy="491737"/>
          </a:xfrm>
          <a:prstGeom prst="roundRect">
            <a:avLst/>
          </a:prstGeom>
          <a:solidFill>
            <a:srgbClr val="00A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5" name="TextBox 44"/>
          <p:cNvSpPr txBox="1"/>
          <p:nvPr/>
        </p:nvSpPr>
        <p:spPr>
          <a:xfrm>
            <a:off x="6425946" y="3092958"/>
            <a:ext cx="2235708" cy="229294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l"/>
            <a:r>
              <a:rPr lang="en-US" sz="1400" b="1" dirty="0">
                <a:solidFill>
                  <a:srgbClr val="0F233A"/>
                </a:solidFill>
                <a:latin typeface="Aptos"/>
              </a:rPr>
              <a:t>              </a:t>
            </a:r>
            <a:r>
              <a:rPr sz="1400" b="1" dirty="0">
                <a:solidFill>
                  <a:srgbClr val="0F233A"/>
                </a:solidFill>
                <a:latin typeface="Aptos"/>
              </a:rPr>
              <a:t>AYUSH RAJ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4194" y="3312414"/>
            <a:ext cx="2537460" cy="183127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r>
              <a:rPr lang="en-US" sz="11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ptos"/>
              </a:rPr>
              <a:t>                             </a:t>
            </a:r>
            <a:r>
              <a:rPr lang="en-IN" sz="1100" b="1" i="1" dirty="0"/>
              <a:t>24a12res897</a:t>
            </a:r>
            <a:r>
              <a:rPr lang="en-US" sz="11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ptos"/>
              </a:rPr>
              <a:t> </a:t>
            </a:r>
            <a:endParaRPr sz="1100" b="1" i="1" dirty="0">
              <a:solidFill>
                <a:schemeClr val="accent1">
                  <a:lumMod val="20000"/>
                  <a:lumOff val="80000"/>
                </a:schemeClr>
              </a:solidFill>
              <a:latin typeface="Apto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124194" y="3552444"/>
            <a:ext cx="2558034" cy="1382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lang="en-US" sz="9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ptos"/>
              </a:rPr>
              <a:t> </a:t>
            </a: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ptos"/>
              </a:rPr>
              <a:t>AWS Cloud &amp; DevOps</a:t>
            </a:r>
            <a:endParaRPr lang="en-US" sz="900" dirty="0"/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sz="900" dirty="0"/>
              <a:t>• AWS EC2 Ubuntu, IAM and Security Groups</a:t>
            </a:r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sz="900" dirty="0"/>
              <a:t>• Docker / Compose; Node Exporter + </a:t>
            </a:r>
            <a:r>
              <a:rPr sz="900" dirty="0" err="1"/>
              <a:t>cAdvisor</a:t>
            </a:r>
            <a:endParaRPr sz="900" dirty="0"/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r>
              <a:rPr sz="900" dirty="0"/>
              <a:t>• Prometheus, Grafana, alerting and deployment verification</a:t>
            </a:r>
            <a:endParaRPr lang="en-US" sz="900" dirty="0"/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endParaRPr lang="en-US" sz="900" dirty="0"/>
          </a:p>
          <a:p>
            <a:pPr>
              <a:spcAft>
                <a:spcPts val="525"/>
              </a:spcAft>
              <a:defRPr sz="900">
                <a:solidFill>
                  <a:srgbClr val="202D3A"/>
                </a:solidFill>
                <a:latin typeface="Aptos"/>
              </a:defRPr>
            </a:pPr>
            <a:endParaRPr sz="900" dirty="0"/>
          </a:p>
        </p:txBody>
      </p:sp>
      <p:sp>
        <p:nvSpPr>
          <p:cNvPr id="49" name="TextBox 48"/>
          <p:cNvSpPr txBox="1"/>
          <p:nvPr/>
        </p:nvSpPr>
        <p:spPr>
          <a:xfrm>
            <a:off x="8229600" y="4834890"/>
            <a:ext cx="342900" cy="167738"/>
          </a:xfrm>
          <a:prstGeom prst="rect">
            <a:avLst/>
          </a:prstGeom>
          <a:noFill/>
        </p:spPr>
        <p:txBody>
          <a:bodyPr wrap="square" lIns="27432" tIns="6858" rIns="27432" bIns="6858">
            <a:spAutoFit/>
          </a:bodyPr>
          <a:lstStyle/>
          <a:p>
            <a:pPr algn="r"/>
            <a:r>
              <a:rPr lang="en-IN" sz="1000" b="1" dirty="0">
                <a:solidFill>
                  <a:srgbClr val="7030A0"/>
                </a:solidFill>
                <a:latin typeface="Aptos"/>
              </a:rPr>
              <a:t>2</a:t>
            </a:r>
            <a:endParaRPr sz="1000" b="1" dirty="0">
              <a:solidFill>
                <a:srgbClr val="7030A0"/>
              </a:solidFill>
              <a:latin typeface="Aptos"/>
            </a:endParaRPr>
          </a:p>
        </p:txBody>
      </p:sp>
      <p:sp>
        <p:nvSpPr>
          <p:cNvPr id="52" name="Text 0">
            <a:extLst>
              <a:ext uri="{FF2B5EF4-FFF2-40B4-BE49-F238E27FC236}">
                <a16:creationId xmlns:a16="http://schemas.microsoft.com/office/drawing/2014/main" id="{60FE0EF2-D95B-A598-82C3-5A433B9F9479}"/>
              </a:ext>
            </a:extLst>
          </p:cNvPr>
          <p:cNvSpPr/>
          <p:nvPr/>
        </p:nvSpPr>
        <p:spPr>
          <a:xfrm>
            <a:off x="170180" y="80920"/>
            <a:ext cx="7634224" cy="63917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>
                <a:solidFill>
                  <a:schemeClr val="bg2">
                    <a:lumMod val="10000"/>
                  </a:schemeClr>
                </a:solidFill>
              </a:rPr>
              <a:t>                    Project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8700" y="0"/>
            <a:ext cx="7200900" cy="8255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>
                    <a:lumMod val="10000"/>
                  </a:schemeClr>
                </a:solidFill>
              </a:rPr>
              <a:t>Industry Problem &amp; Proposed Solution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Pain point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Container state is invisible across hosts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CPU and memory pressure goes unnoticed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Offline hosts and API errors stay hidden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Proposed solution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5087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Agent on each Docker host reports telemetry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FastAPI + PostgreSQL store and serve it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Prometheus rules watch API and host health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429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Expected improvement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490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Better availability, faster detection and recovery, one automated pipeline.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333756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3429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Assumptions &amp; constraints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7490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Few hosts, low budget, single EC2 instance, HTTP demo, no compliance scope.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             SLA &amp; TTR 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99.5%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Availability SLA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30552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130552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&lt; 1 s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221992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API response, 95% of requests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03904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03904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15 min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895344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RTO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77256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77256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24 h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5568696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RPO (daily DB dump)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50608" y="1097280"/>
            <a:ext cx="1517904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50608" y="12801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≤ 10 min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7242048" y="18745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TTR target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D953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S1 Critical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542032" y="269748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2A93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542032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A3D"/>
                </a:solidFill>
              </a:rPr>
              <a:t>S2 High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26864" y="269748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4A7FB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26864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S3 Medium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711696" y="269748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2E9E6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11696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S4 Low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82296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429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How SLA violations are detected and reported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74904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Prometheus alerts on /health down, 5xx rate and P95 latency (15 s evaluation)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Alertmanager groups alerts; each incident is logged with its severity and TTR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848600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dirty="0"/>
              <a:t>               </a:t>
            </a:r>
            <a:r>
              <a:rPr lang="en-US" sz="3200" b="1" dirty="0"/>
              <a:t>End-to-End Cloud Pipeline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Users &amp; Agents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Browser, Docker host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64208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865376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11096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Public IP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HTTP :80, SG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72384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3273552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19272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Nginx + FastAPI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JWT, /health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4681728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27448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Docker Compose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PostgreSQL volume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88736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9904" y="1097280"/>
            <a:ext cx="1188720" cy="1005840"/>
          </a:xfrm>
          <a:prstGeom prst="rect">
            <a:avLst/>
          </a:prstGeom>
          <a:solidFill>
            <a:srgbClr val="FFC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AWS EC2</a:t>
            </a:r>
            <a:endParaRPr 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VPC, EBS, IAM</a:t>
            </a:r>
            <a:endParaRPr 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96912" y="1499616"/>
            <a:ext cx="182880" cy="201168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8" name="Shape 16"/>
          <p:cNvSpPr/>
          <p:nvPr/>
        </p:nvSpPr>
        <p:spPr>
          <a:xfrm>
            <a:off x="7498080" y="1097280"/>
            <a:ext cx="118872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1097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Monitoring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Prometheus, CloudWatch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SLA metrics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7889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/health endpoint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Request latency histogram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Uptime / availability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4612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8328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Logging &amp; monitoring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27889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Container logs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Prometheus scrape every 15 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CloudWatch CPU alarm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03504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Failure recovery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27889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Restart container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Redeploy / rollback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EBS snapshot restore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     AWS Services Used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Amazon EC2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Hosts the Docker Compose stack (t3.micro, Ubuntu 24.04). Why: full control, Free Tier eligible, simple single-host design.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VPC + Security Groups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50876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Isolated network; 80/443 public, SSH admin-only, 5432 blocked. Why: network firewall keeps the database private.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IAM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33756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Least-privilege users and roles for AWS access. Why: no shared root keys; scoped, auditable access.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92608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CloudWatch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33756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Basic EC2 metrics and a CPU alarm. Why: host-level view and alerts beside Prometheus.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5461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Docker &amp; Containerization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frontend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847088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47088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backend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36976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36976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postgres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26864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6864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prometheus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16752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16752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node-exporter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1097280"/>
            <a:ext cx="12801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0" y="1097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alertmanager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178308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Docker images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1783080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postgres:16-alpine, Prometheus v2.54.1, Alertmanager v0.27.0, own backend/frontend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304288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3042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Dockerfiles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2304288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Backend (FastAPI) and frontend (React built, served by Nginx)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825496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8254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Networking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2825496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Compose bridge network; only the frontend publishes port 80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346704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3467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Persistent data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468880" y="3346704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Named volume cloudmonitor-prod_postgres_data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867912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38679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Image registry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3867912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Built on the EC2 host; Amazon ECR is future work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Benefits: portable, isolated, reproducible. The same compose file runs locally and on EC2.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445500" cy="5943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dirty="0"/>
              <a:t>       </a:t>
            </a:r>
            <a:r>
              <a:rPr lang="en-US" sz="3200" b="1" dirty="0"/>
              <a:t>Virtualization &amp; Cloud Infrastructure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920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 vCPU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EC2 t3.micro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97280"/>
            <a:ext cx="1920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6032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 GB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RAM (+2 GB swap)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20 GB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gp3 EBS storage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97280"/>
            <a:ext cx="1920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Ubuntu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8745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24.04 LTS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Virtual machine (EC2)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AWS hypervisor isolates the OS; one VM hosts the whole stack.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51460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00600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Containers (Docker)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Share the VM kernel, start in seconds, one service per container.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389120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97764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Scaling: vertical t3.micro to t3.small; horizontal with more hosts behind a load balancer (future).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861300" cy="736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dirty="0"/>
              <a:t>    </a:t>
            </a:r>
            <a:r>
              <a:rPr lang="en-US" sz="3200" b="1" dirty="0"/>
              <a:t>Reliability, Monitoring &amp; TTR Workflow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9202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188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Detection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554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Prometheus alert: backend /health down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~30 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560320" y="1097280"/>
            <a:ext cx="19202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97480" y="1188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Diagnosis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554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 ps and container logs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~2 min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63440" y="1097280"/>
            <a:ext cx="19202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188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Recovery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1554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 compose up -d backend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~1 min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766560" y="1097280"/>
            <a:ext cx="19202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03720" y="1188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Verification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554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/health returns 200, login test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~1 min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57200" y="310896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Incident trigger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310896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 stop cloudmonitor-backend (failure injection)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1605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7490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TTR = Detection + Diagnosis + Recovery + Verification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Target TTR: 10 min   |   Measured TTR: ~4.5 min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823200" cy="530352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dirty="0"/>
              <a:t>               </a:t>
            </a:r>
            <a:r>
              <a:rPr lang="en-US" sz="3200" b="1" dirty="0"/>
              <a:t>Performance &amp; SLA Testing</a:t>
            </a:r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97280"/>
          <a:ext cx="41148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754880" y="1097280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37760" y="1097280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Workload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09728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50 users, 60 s (k6)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754880" y="1700784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937760" y="1700784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Throughput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1700784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~85 requests/sec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2304288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937760" y="2304288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Availability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2304288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99.9% observed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754880" y="2907792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937760" y="2907792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Failure test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90779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Backend stop, TTR ~4.5 min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754880" y="3511296"/>
            <a:ext cx="393192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937760" y="3511296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SLA result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035040" y="351129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Met (P95 under 1 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dirty="0"/>
              <a:t>10. Security &amp; Cost Considerations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972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IAM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0972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Least-privilege roles and users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81051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Network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1810512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Security group; DB port 5432 closed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523744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237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Secrets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2523744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.env on host, never in Git or images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36976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2369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3236976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JWT auth, hashed agent keys; HTTPS planned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97280"/>
          <a:ext cx="4023360" cy="2523744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Monthly item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₹ / month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EC2 t3.micro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800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EBS 20 GB gp3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150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Data transfer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50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CloudWatch (basic)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E2B33"/>
                          </a:solidFill>
                        </a:rPr>
                        <a:t>Total (approx.)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E2B33"/>
                          </a:solidFill>
                        </a:rPr>
                        <a:t>1,000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" y="40233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Optimize: right-size the instance, stop when idle, use Free Tier, and check the AWS Pricing Calculator.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858000" cy="772668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        Demonstration</a:t>
            </a:r>
            <a:r>
              <a:rPr lang="en-US" dirty="0"/>
              <a:t> 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Repo: </a:t>
            </a:r>
            <a:r>
              <a:rPr lang="en-US" sz="1400" b="1" dirty="0">
                <a:solidFill>
                  <a:schemeClr val="tx1"/>
                </a:solidFill>
                <a:hlinkClick r:id="rId3"/>
              </a:rPr>
              <a:t>github.com/</a:t>
            </a:r>
            <a:r>
              <a:rPr lang="en-US" sz="1400" b="1" dirty="0" err="1">
                <a:solidFill>
                  <a:schemeClr val="tx1"/>
                </a:solidFill>
                <a:hlinkClick r:id="rId3"/>
              </a:rPr>
              <a:t>ayushcmd</a:t>
            </a:r>
            <a:r>
              <a:rPr lang="en-US" sz="1400" b="1" dirty="0">
                <a:solidFill>
                  <a:schemeClr val="tx1"/>
                </a:solidFill>
                <a:hlinkClick r:id="rId3"/>
              </a:rPr>
              <a:t>/</a:t>
            </a:r>
            <a:r>
              <a:rPr lang="en-US" sz="1400" b="1" dirty="0" err="1">
                <a:solidFill>
                  <a:schemeClr val="tx1"/>
                </a:solidFill>
                <a:hlinkClick r:id="rId3"/>
              </a:rPr>
              <a:t>cloud_monitor</a:t>
            </a:r>
            <a:r>
              <a:rPr lang="en-US" sz="1400" b="1" dirty="0">
                <a:solidFill>
                  <a:schemeClr val="tx1"/>
                </a:solidFill>
                <a:hlinkClick r:id="rId3"/>
              </a:rPr>
              <a:t>   </a:t>
            </a:r>
            <a:r>
              <a:rPr lang="en-US" sz="1400" b="1" dirty="0">
                <a:solidFill>
                  <a:schemeClr val="tx1"/>
                </a:solidFill>
              </a:rPr>
              <a:t>|   Demo: </a:t>
            </a:r>
            <a:r>
              <a:rPr lang="en-US" sz="1400" b="1" dirty="0">
                <a:solidFill>
                  <a:schemeClr val="tx1"/>
                </a:solidFill>
                <a:hlinkClick r:id="rId4"/>
              </a:rPr>
              <a:t>http://3.25.150.231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Run: docker compose -f docker-compose.prod.yml up -d --build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1381" y="1645920"/>
            <a:ext cx="4359179" cy="301752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pic>
        <p:nvPicPr>
          <p:cNvPr id="5" name="Image 0" descr="/mnt/user-data/uploads/dashboar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86117" y="1719072"/>
            <a:ext cx="4203003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44398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Dashboard: hosts and containers (local Docker host)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1999" y="1627631"/>
            <a:ext cx="4385883" cy="3035809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Shape 7"/>
          <p:cNvSpPr/>
          <p:nvPr/>
        </p:nvSpPr>
        <p:spPr>
          <a:xfrm>
            <a:off x="4663440" y="1719072"/>
            <a:ext cx="4213523" cy="26517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4675472" y="444398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AWS EC2 console 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E6864B-BB3F-BFF7-DC0A-C19151D1A8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719072"/>
            <a:ext cx="4213523" cy="265176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" y="0"/>
            <a:ext cx="7767587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b="1" dirty="0"/>
              <a:t>                                   </a:t>
            </a:r>
            <a:r>
              <a:rPr lang="en-US" sz="3200" b="1" dirty="0"/>
              <a:t>Results &amp; Key Findings</a:t>
            </a: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Observed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Availability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99.5%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99.9%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Met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P95 latency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&lt; 1 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310 ms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Met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TTR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≤ 10 min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~4.5 min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B33"/>
                          </a:solidFill>
                        </a:rPr>
                        <a:t>Met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2834640"/>
            <a:ext cx="26517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Functional outcome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Auth, agent enrollment, container telemetry, alerts, EC2 deployment.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46120" y="2834640"/>
            <a:ext cx="26517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8328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Cloud benefits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Operational visibility, Docker portability, low-cost AWS hosting.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2834640"/>
            <a:ext cx="26517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Limitations</a:t>
            </a:r>
            <a:endParaRPr lang="en-US" sz="1500" dirty="0"/>
          </a:p>
        </p:txBody>
      </p:sp>
      <p:sp>
        <p:nvSpPr>
          <p:cNvPr id="5" name="Text 11"/>
          <p:cNvSpPr txBox="1"/>
          <p:nvPr/>
        </p:nvSpPr>
        <p:spPr>
          <a:xfrm>
            <a:off x="617220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HTTP demo, no alert receivers yet, SSH-based CD unreliable.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" y="0"/>
            <a:ext cx="7719461" cy="768096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   Evaluation Checklist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25296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  <p:txBody>
          <a:bodyPr/>
          <a:lstStyle/>
          <a:p>
            <a:endParaRPr lang="en-IN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960120" y="109728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Industry use case and problem statement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64208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792224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166420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End-to-end cloud architecture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31136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359152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223113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3–5 AWS services with justification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98064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926080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2798064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Dockerized application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364992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3493008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336499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Virtualization explained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4059936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393192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Explicit SLA metrics and targets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097280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225296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166360" y="109728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TTR defined and measured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664208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0600" y="1792224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66360" y="166420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Failure/recovery demonstrated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31136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0600" y="2359152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166360" y="223113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Monitoring/logging evidence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798064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2926080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166360" y="2798064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Performance, security and cost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364992"/>
            <a:ext cx="402336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34" name="Shape 32"/>
          <p:cNvSpPr/>
          <p:nvPr/>
        </p:nvSpPr>
        <p:spPr>
          <a:xfrm>
            <a:off x="4800600" y="3493008"/>
            <a:ext cx="256032" cy="256032"/>
          </a:xfrm>
          <a:prstGeom prst="ellipse">
            <a:avLst/>
          </a:prstGeom>
          <a:solidFill>
            <a:srgbClr val="92D05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166360" y="336499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Working demo + repository</a:t>
            </a:r>
            <a:endParaRPr lang="en-US" sz="14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" y="0"/>
            <a:ext cx="7719461" cy="6172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r>
              <a:rPr lang="en-US" sz="3200" b="1" dirty="0"/>
              <a:t>                Conclusion &amp; Future Work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Conclusion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Docker stack runs on AWS EC2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SLA and TTR defined and tested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Monitoring gives one health view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Future work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5087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HTTPS with Caddy, ECR images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SSM-based CD, CloudWatch logs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Kubernetes/EKS, multi-host scaling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00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Business extension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20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Multi-tenant monitoring SaaS for small DevOps teams, with alert notifications.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310896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3200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Learning outcomes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520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AWS, Docker, virtualization, SLA/TTR, CI/CD and cloud deployment.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Custom 12">
      <a:dk1>
        <a:sysClr val="windowText" lastClr="000000"/>
      </a:dk1>
      <a:lt1>
        <a:srgbClr val="C4E7EA"/>
      </a:lt1>
      <a:dk2>
        <a:srgbClr val="1E5155"/>
      </a:dk2>
      <a:lt2>
        <a:srgbClr val="EBEBEB"/>
      </a:lt2>
      <a:accent1>
        <a:srgbClr val="4FB8C1"/>
      </a:accent1>
      <a:accent2>
        <a:srgbClr val="EA6312"/>
      </a:accent2>
      <a:accent3>
        <a:srgbClr val="E6B729"/>
      </a:accent3>
      <a:accent4>
        <a:srgbClr val="4FB8C1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138</TotalTime>
  <Words>1231</Words>
  <Application>Microsoft Office PowerPoint</Application>
  <PresentationFormat>On-screen Show (16:9)</PresentationFormat>
  <Paragraphs>276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Century Gothic</vt:lpstr>
      <vt:lpstr>Wingdings 3</vt:lpstr>
      <vt:lpstr>Ion</vt:lpstr>
      <vt:lpstr>CloudMonitor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Ayush Raj</cp:lastModifiedBy>
  <cp:revision>4</cp:revision>
  <dcterms:created xsi:type="dcterms:W3CDTF">2026-10-28T07:58:34Z</dcterms:created>
  <dcterms:modified xsi:type="dcterms:W3CDTF">2026-10-31T07:50:30Z</dcterms:modified>
</cp:coreProperties>
</file>