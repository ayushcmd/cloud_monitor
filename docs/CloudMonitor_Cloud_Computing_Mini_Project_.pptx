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38" r:id="rId1"/>
  </p:sldMasterIdLst>
  <p:notesMasterIdLst>
    <p:notesMasterId r:id="rId17"/>
  </p:notesMasterIdLst>
  <p:sldIdLst>
    <p:sldId id="273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69" r:id="rId16"/>
  </p:sldIdLst>
  <p:sldSz cx="9144000" cy="5143500" type="screen16x9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80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B33"/>
                </a:solidFill>
                <a:latin typeface="+mn-lt"/>
              </a:defRPr>
            </a:pPr>
            <a:r>
              <a:rPr lang="en-IN" sz="1400" b="0" i="0" u="none" strike="noStrike">
                <a:solidFill>
                  <a:srgbClr val="1E2B33"/>
                </a:solidFill>
                <a:latin typeface="+mn-lt"/>
              </a:rPr>
              <a:t>Response latency (ms)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Latency (ms)</c:v>
                </c:pt>
              </c:strCache>
            </c:strRef>
          </c:tx>
          <c:spPr>
            <a:solidFill>
              <a:srgbClr val="0E7C8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Average</c:v>
                </c:pt>
                <c:pt idx="1">
                  <c:v>P95</c:v>
                </c:pt>
                <c:pt idx="2">
                  <c:v>P99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120</c:v>
                </c:pt>
                <c:pt idx="1">
                  <c:v>310</c:v>
                </c:pt>
                <c:pt idx="2">
                  <c:v>480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9A5-464F-A3A4-9D818CDABCF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0"/>
        </c:scaling>
        <c:delete val="0"/>
        <c:axPos val="l"/>
        <c:majorGridlines>
          <c:spPr>
            <a:ln w="6350" cap="flat">
              <a:solidFill>
                <a:srgbClr val="D5E2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525874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Title slide. CloudMonitor is a self-hosted Docker host and container observability platform, built as a Cloud Computing mini project. The ship illustration is decorative.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216" y="1085850"/>
            <a:ext cx="6619244" cy="2497186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216" y="3583035"/>
            <a:ext cx="6619244" cy="646065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75420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98011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7" y="2146300"/>
            <a:ext cx="6619243" cy="1436735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3583036"/>
            <a:ext cx="6619244" cy="645300"/>
          </a:xfrm>
        </p:spPr>
        <p:txBody>
          <a:bodyPr anchor="t"/>
          <a:lstStyle>
            <a:lvl1pPr marL="0" indent="0" algn="l">
              <a:buNone/>
              <a:defRPr sz="15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924536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7485" y="1545432"/>
            <a:ext cx="3297254" cy="3146822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40870" y="1542069"/>
            <a:ext cx="3297256" cy="3150184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85041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485" y="1428750"/>
            <a:ext cx="329725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7485" y="1885950"/>
            <a:ext cx="3297254" cy="2806304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40872" y="1428750"/>
            <a:ext cx="329725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40872" y="1885950"/>
            <a:ext cx="3297254" cy="2806304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10/28/2026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14440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10/28/2026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25586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10/28/2026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7696803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5" y="1085850"/>
            <a:ext cx="2550798" cy="1085850"/>
          </a:xfrm>
        </p:spPr>
        <p:txBody>
          <a:bodyPr anchor="b"/>
          <a:lstStyle>
            <a:lvl1pPr algn="l">
              <a:defRPr sz="1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8462" y="1085850"/>
            <a:ext cx="3896998" cy="3429000"/>
          </a:xfrm>
        </p:spPr>
        <p:txBody>
          <a:bodyPr anchor="ctr"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5" y="2346961"/>
            <a:ext cx="2550797" cy="2171699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10/28/2026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87860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430" y="1390644"/>
            <a:ext cx="3819680" cy="1181106"/>
          </a:xfrm>
        </p:spPr>
        <p:txBody>
          <a:bodyPr anchor="b">
            <a:normAutofit/>
          </a:bodyPr>
          <a:lstStyle>
            <a:lvl1pPr algn="l">
              <a:defRPr sz="27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12160" y="857250"/>
            <a:ext cx="2400300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2743200"/>
            <a:ext cx="3813734" cy="1028700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574958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7" y="3600440"/>
            <a:ext cx="6619243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216" y="514350"/>
            <a:ext cx="6619244" cy="27305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7" y="4025494"/>
            <a:ext cx="6619242" cy="370284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625825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1085850"/>
            <a:ext cx="6619244" cy="14859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2743200"/>
            <a:ext cx="6619244" cy="1771650"/>
          </a:xfrm>
        </p:spPr>
        <p:txBody>
          <a:bodyPr anchor="ctr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182620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1101" y="1085850"/>
            <a:ext cx="5999486" cy="1742531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447800" y="2828380"/>
            <a:ext cx="5459737" cy="256631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05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3262993"/>
            <a:ext cx="6619244" cy="1257300"/>
          </a:xfrm>
        </p:spPr>
        <p:txBody>
          <a:bodyPr anchor="ctr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73721" y="728440"/>
            <a:ext cx="601434" cy="15004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9150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7868" y="1960341"/>
            <a:ext cx="601434" cy="15004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915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00112925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2343151"/>
            <a:ext cx="6619245" cy="1239885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3583036"/>
            <a:ext cx="6619244" cy="645300"/>
          </a:xfrm>
        </p:spPr>
        <p:txBody>
          <a:bodyPr anchor="t"/>
          <a:lstStyle>
            <a:lvl1pPr marL="0" indent="0" algn="l">
              <a:buNone/>
              <a:defRPr sz="15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542783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1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710" y="1485900"/>
            <a:ext cx="2210150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489347" y="2000250"/>
            <a:ext cx="2195513" cy="269200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2745" y="1485900"/>
            <a:ext cx="2202181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04829" y="2000250"/>
            <a:ext cx="2210096" cy="269200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3525" y="1485900"/>
            <a:ext cx="2199085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343525" y="2000250"/>
            <a:ext cx="2199085" cy="269200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4607" y="1600200"/>
            <a:ext cx="0" cy="29718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1670" y="1600200"/>
            <a:ext cx="0" cy="297516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10/28/2026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4298035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1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347" y="3188212"/>
            <a:ext cx="2205038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489347" y="1657350"/>
            <a:ext cx="2205038" cy="1143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489347" y="3620409"/>
            <a:ext cx="2205038" cy="49439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7032" y="3188212"/>
            <a:ext cx="219789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17031" y="1657350"/>
            <a:ext cx="2197894" cy="1143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16016" y="3620408"/>
            <a:ext cx="2200805" cy="49439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3525" y="3188212"/>
            <a:ext cx="2199085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343525" y="1657350"/>
            <a:ext cx="2199085" cy="1143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343432" y="3620406"/>
            <a:ext cx="2201998" cy="49439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2794607" y="1600200"/>
            <a:ext cx="0" cy="29718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5221670" y="1600200"/>
            <a:ext cx="0" cy="297516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10/28/2026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1089137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096883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28159" y="322660"/>
            <a:ext cx="1314451" cy="4369594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9348" y="665561"/>
            <a:ext cx="5567362" cy="402669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4278348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371600"/>
            <a:ext cx="493776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r>
              <a:rPr lang="en-US" sz="5400" b="1" dirty="0">
                <a:solidFill>
                  <a:schemeClr val="bg1"/>
                </a:solidFill>
              </a:rPr>
              <a:t>Title</a:t>
            </a:r>
            <a:endParaRPr lang="en-US" sz="5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2366010"/>
            <a:ext cx="5074920" cy="6172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950" dirty="0">
                <a:solidFill>
                  <a:schemeClr val="accent3"/>
                </a:solidFill>
              </a:defRPr>
            </a:lvl1pPr>
          </a:lstStyle>
          <a:p>
            <a:pPr marL="0" indent="0" algn="l">
              <a:buNone/>
            </a:pPr>
            <a:r>
              <a:rPr lang="en-US" sz="1950" dirty="0">
                <a:solidFill>
                  <a:schemeClr val="accent3"/>
                </a:solidFill>
              </a:rPr>
              <a:t>Subtitle</a:t>
            </a: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314374792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5781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2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6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5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4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1">
            <a:alphaModFix amt="23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002264"/>
            <a:ext cx="3027759" cy="3141236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169261"/>
            <a:ext cx="1141809" cy="1774090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6456759" y="1257300"/>
            <a:ext cx="2114550" cy="211455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60" y="1"/>
            <a:ext cx="1202540" cy="856055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4408" y="4572000"/>
            <a:ext cx="745301" cy="5715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4584" y="339538"/>
            <a:ext cx="7053542" cy="105039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484" y="1539689"/>
            <a:ext cx="6709906" cy="31466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7616730" y="1343026"/>
            <a:ext cx="742949" cy="2285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825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5586B75A-687E-405C-8A0B-8D00578BA2C3}" type="datetimeFigureOut">
              <a:rPr lang="en-US" smtClean="0"/>
              <a:pPr/>
              <a:t>10/28/2026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6713680" y="2418973"/>
            <a:ext cx="2894846" cy="2286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825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764406" y="221797"/>
            <a:ext cx="628649" cy="57576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1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178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39" r:id="rId1"/>
    <p:sldLayoutId id="2147484040" r:id="rId2"/>
    <p:sldLayoutId id="2147484041" r:id="rId3"/>
    <p:sldLayoutId id="2147484042" r:id="rId4"/>
    <p:sldLayoutId id="2147484043" r:id="rId5"/>
    <p:sldLayoutId id="2147484044" r:id="rId6"/>
    <p:sldLayoutId id="2147484045" r:id="rId7"/>
    <p:sldLayoutId id="2147484046" r:id="rId8"/>
    <p:sldLayoutId id="2147484047" r:id="rId9"/>
    <p:sldLayoutId id="2147484048" r:id="rId10"/>
    <p:sldLayoutId id="2147484049" r:id="rId11"/>
    <p:sldLayoutId id="2147484050" r:id="rId12"/>
    <p:sldLayoutId id="2147484051" r:id="rId13"/>
    <p:sldLayoutId id="2147484052" r:id="rId14"/>
    <p:sldLayoutId id="2147484053" r:id="rId15"/>
    <p:sldLayoutId id="2147484054" r:id="rId16"/>
    <p:sldLayoutId id="2147484055" r:id="rId17"/>
    <p:sldLayoutId id="2147484056" r:id="rId18"/>
    <p:sldLayoutId id="2147484057" r:id="rId19"/>
  </p:sldLayoutIdLst>
  <p:hf sldNum="0" hdr="0" ftr="0" dt="0"/>
  <p:txStyles>
    <p:titleStyle>
      <a:lvl1pPr algn="l" defTabSz="342900" rtl="0" eaLnBrk="1" latinLnBrk="0" hangingPunct="1">
        <a:spcBef>
          <a:spcPct val="0"/>
        </a:spcBef>
        <a:buNone/>
        <a:defRPr sz="315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5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557213" indent="-214313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35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8572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2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2001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15430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187950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yushcmd/cloud_monitor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hyperlink" Target="http://3.25.150.231/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 art" descr="Decorative container ship illustration on a dark blue background"/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" y="0"/>
            <a:ext cx="9143771" cy="5143500"/>
          </a:xfrm>
          <a:prstGeom prst="rect">
            <a:avLst/>
          </a:prstGeom>
          <a:effectLst>
            <a:softEdge rad="0"/>
          </a:effectLst>
        </p:spPr>
      </p:pic>
      <p:sp>
        <p:nvSpPr>
          <p:cNvPr id="3" name="Text 0"/>
          <p:cNvSpPr txBox="1"/>
          <p:nvPr/>
        </p:nvSpPr>
        <p:spPr>
          <a:xfrm>
            <a:off x="548640" y="106299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50" b="1" spc="150" dirty="0">
                <a:solidFill>
                  <a:schemeClr val="bg1"/>
                </a:solidFill>
              </a:rPr>
              <a:t>CLOUD COMPUTING MINI PROJECT</a:t>
            </a:r>
            <a:endParaRPr lang="en-US" sz="12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/>
          </p:nvPr>
        </p:nvSpPr>
        <p:spPr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dirty="0"/>
              <a:t>CloudMonitor</a:t>
            </a:r>
          </a:p>
        </p:txBody>
      </p:sp>
      <p:sp>
        <p:nvSpPr>
          <p:cNvPr id="5" name="Text 0"/>
          <p:cNvSpPr>
            <a:spLocks noGrp="1"/>
          </p:cNvSpPr>
          <p:nvPr>
            <p:ph type="body" idx="101"/>
          </p:nvPr>
        </p:nvSpPr>
        <p:spPr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dirty="0">
                <a:solidFill>
                  <a:schemeClr val="tx2">
                    <a:lumMod val="10000"/>
                  </a:schemeClr>
                </a:solidFill>
              </a:rPr>
              <a:t>Docker Monitoring &amp; Observability Platform</a:t>
            </a:r>
          </a:p>
        </p:txBody>
      </p:sp>
      <p:sp>
        <p:nvSpPr>
          <p:cNvPr id="6" name="Text 3"/>
          <p:cNvSpPr txBox="1"/>
          <p:nvPr/>
        </p:nvSpPr>
        <p:spPr>
          <a:xfrm>
            <a:off x="548640" y="3703320"/>
            <a:ext cx="315468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125" b="1" dirty="0">
                <a:solidFill>
                  <a:schemeClr val="bg1"/>
                </a:solidFill>
              </a:rPr>
              <a:t>IITP – BSc CSDA </a:t>
            </a:r>
          </a:p>
          <a:p>
            <a:r>
              <a:rPr lang="en-US" sz="1125" b="1" dirty="0">
                <a:solidFill>
                  <a:schemeClr val="bg1"/>
                </a:solidFill>
              </a:rPr>
              <a:t>5</a:t>
            </a:r>
            <a:r>
              <a:rPr lang="en-US" sz="1125" b="1" baseline="30000" dirty="0">
                <a:solidFill>
                  <a:schemeClr val="bg1"/>
                </a:solidFill>
              </a:rPr>
              <a:t>th</a:t>
            </a:r>
            <a:r>
              <a:rPr lang="en-US" sz="1125" b="1" dirty="0">
                <a:solidFill>
                  <a:schemeClr val="bg1"/>
                </a:solidFill>
              </a:rPr>
              <a:t> Semester </a:t>
            </a:r>
          </a:p>
          <a:p>
            <a:r>
              <a:rPr lang="en-US" sz="1125" b="1" dirty="0">
                <a:solidFill>
                  <a:schemeClr val="bg1"/>
                </a:solidFill>
              </a:rPr>
              <a:t>2026</a:t>
            </a:r>
            <a:endParaRPr lang="en-US" sz="1125" b="1" dirty="0"/>
          </a:p>
        </p:txBody>
      </p:sp>
      <p:sp>
        <p:nvSpPr>
          <p:cNvPr id="7" name="Cover description"/>
          <p:cNvSpPr txBox="1"/>
          <p:nvPr/>
        </p:nvSpPr>
        <p:spPr>
          <a:xfrm>
            <a:off x="548640" y="3120390"/>
            <a:ext cx="315468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125" dirty="0">
                <a:solidFill>
                  <a:schemeClr val="bg1"/>
                </a:solidFill>
              </a:rPr>
              <a:t>A self-hosted dashboard for Docker host and container telemetry</a:t>
            </a:r>
            <a:endParaRPr lang="en-US" sz="11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0180" y="114300"/>
            <a:ext cx="7119620" cy="909828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r>
              <a:rPr lang="en-US" sz="3200" b="1" dirty="0">
                <a:solidFill>
                  <a:schemeClr val="bg2">
                    <a:lumMod val="10000"/>
                  </a:schemeClr>
                </a:solidFill>
              </a:rPr>
              <a:t>                    Project Overview</a:t>
            </a:r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Industry / Domain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68880" y="1097280"/>
            <a:ext cx="6080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IT operations and DevOps (small SaaS and dev teams)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822960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73736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Use Case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468880" y="1737360"/>
            <a:ext cx="6080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Monitor Docker hosts and containers from one web dashboard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822960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3774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Business Need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468880" y="2377440"/>
            <a:ext cx="6080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Small teams cannot inspect every host by hand; they need one health view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822960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01752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Target Users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468880" y="3017520"/>
            <a:ext cx="6080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Developers, operators and admins running a few Docker hosts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822960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65760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Cloud Objective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468880" y="3657600"/>
            <a:ext cx="6080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Deploy a reliable, measurable pipeline on AWS EC2 with Docker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4297680"/>
            <a:ext cx="8229600" cy="731520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429768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Team Members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468880" y="42976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S</a:t>
            </a:r>
            <a:r>
              <a:rPr lang="en-US" sz="1400" b="1" dirty="0"/>
              <a:t>ARNENDU DAS       :    24a12res592</a:t>
            </a:r>
          </a:p>
          <a:p>
            <a:pPr marL="0" indent="0">
              <a:buNone/>
            </a:pPr>
            <a:r>
              <a:rPr lang="en-US" sz="1400" b="1" dirty="0"/>
              <a:t>PARVEEN KUMAR     :    24a12res426</a:t>
            </a:r>
          </a:p>
          <a:p>
            <a:pPr marL="0" indent="0">
              <a:buNone/>
            </a:pPr>
            <a:r>
              <a:rPr lang="en-US" sz="1400" b="1" dirty="0"/>
              <a:t>AYUSH RAJ               :    24a12res897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749300" cy="30175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28700" y="0"/>
            <a:ext cx="7200900" cy="8255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>
                    <a:lumMod val="10000"/>
                  </a:schemeClr>
                </a:solidFill>
              </a:rPr>
              <a:t>Industry Problem &amp; Proposed Solution</a:t>
            </a:r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Pain point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508760"/>
            <a:ext cx="3749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Container state is invisible across hosts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CPU and memory pressure goes unnoticed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Offline hosts and API errors stay hidden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97280"/>
            <a:ext cx="40233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00600" y="1188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Proposed solution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508760"/>
            <a:ext cx="3749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Agent on each Docker host reports telemetry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FastAPI + PostgreSQL store and serve it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Prometheus rules watch API and host health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337560"/>
            <a:ext cx="402336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4290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Expected improvement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74904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Better availability, faster detection and recovery, one automated pipeline.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3337560"/>
            <a:ext cx="402336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00600" y="34290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Assumptions &amp; constraints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374904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Few hosts, low budget, single EC2 instance, HTTP demo, no compliance scope.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6858000" cy="6172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r>
              <a:rPr lang="en-US" sz="3200" b="1" dirty="0"/>
              <a:t>                             SLA &amp; TTR </a:t>
            </a:r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1517904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57200" y="128016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99.5%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8745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Availability SLA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130552" y="1097280"/>
            <a:ext cx="1517904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130552" y="128016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&lt; 1 s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2221992" y="18745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API response, 95% of requests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803904" y="1097280"/>
            <a:ext cx="1517904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803904" y="128016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15 min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3895344" y="18745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RTO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77256" y="1097280"/>
            <a:ext cx="1517904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77256" y="128016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24 h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5568696" y="18745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RPO (daily DB dump)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150608" y="1097280"/>
            <a:ext cx="1517904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50608" y="128016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≤ 10 min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7242048" y="18745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TTR target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269748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D9534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" y="26974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S1 Critical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542032" y="269748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F2A93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542032" y="26974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2A3D"/>
                </a:solidFill>
              </a:rPr>
              <a:t>S2 High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626864" y="269748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4A7FB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626864" y="26974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S3 Medium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711696" y="269748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2E9E6B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711696" y="26974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S4 Low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57200" y="3337560"/>
            <a:ext cx="822960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4360" y="34290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How SLA violations are detected and reported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3749040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Prometheus alerts on /health down, 5xx rate and P95 latency (15 s evaluation)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Alertmanager groups alerts; each incident is logged with its severity and TTR</a:t>
            </a:r>
            <a:endParaRPr lang="en-US" sz="14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848600" cy="6172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r>
              <a:rPr lang="en-US" sz="3200" dirty="0"/>
              <a:t>               </a:t>
            </a:r>
            <a:r>
              <a:rPr lang="en-US" sz="3200" b="1" dirty="0"/>
              <a:t>End-to-End Cloud Pipeline</a:t>
            </a:r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188720" cy="1005840"/>
          </a:xfrm>
          <a:prstGeom prst="roundRect">
            <a:avLst>
              <a:gd name="adj" fmla="val 7273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09728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Users &amp; Agents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1"/>
                </a:solidFill>
              </a:rPr>
              <a:t>Browser, Docker host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664208" y="1499616"/>
            <a:ext cx="182880" cy="201168"/>
          </a:xfrm>
          <a:prstGeom prst="rightArrow">
            <a:avLst/>
          </a:prstGeom>
          <a:solidFill>
            <a:schemeClr val="accent6"/>
          </a:solidFill>
          <a:ln/>
        </p:spPr>
      </p:sp>
      <p:sp>
        <p:nvSpPr>
          <p:cNvPr id="6" name="Shape 4"/>
          <p:cNvSpPr/>
          <p:nvPr/>
        </p:nvSpPr>
        <p:spPr>
          <a:xfrm>
            <a:off x="1865376" y="1097280"/>
            <a:ext cx="1188720" cy="1005840"/>
          </a:xfrm>
          <a:prstGeom prst="roundRect">
            <a:avLst>
              <a:gd name="adj" fmla="val 7273"/>
            </a:avLst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911096" y="109728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Public IP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1"/>
                </a:solidFill>
              </a:rPr>
              <a:t>HTTP :80, SG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072384" y="1499616"/>
            <a:ext cx="182880" cy="201168"/>
          </a:xfrm>
          <a:prstGeom prst="rightArrow">
            <a:avLst/>
          </a:prstGeom>
          <a:solidFill>
            <a:schemeClr val="accent6"/>
          </a:solidFill>
          <a:ln/>
        </p:spPr>
      </p:sp>
      <p:sp>
        <p:nvSpPr>
          <p:cNvPr id="9" name="Shape 7"/>
          <p:cNvSpPr/>
          <p:nvPr/>
        </p:nvSpPr>
        <p:spPr>
          <a:xfrm>
            <a:off x="3273552" y="1097280"/>
            <a:ext cx="1188720" cy="1005840"/>
          </a:xfrm>
          <a:prstGeom prst="roundRect">
            <a:avLst>
              <a:gd name="adj" fmla="val 7273"/>
            </a:avLst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319272" y="109728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Nginx + FastAPI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1"/>
                </a:solidFill>
              </a:rPr>
              <a:t>JWT, /health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1499616"/>
            <a:ext cx="182880" cy="201168"/>
          </a:xfrm>
          <a:prstGeom prst="rightArrow">
            <a:avLst/>
          </a:prstGeom>
          <a:solidFill>
            <a:schemeClr val="accent6"/>
          </a:solidFill>
          <a:ln/>
        </p:spPr>
      </p:sp>
      <p:sp>
        <p:nvSpPr>
          <p:cNvPr id="12" name="Shape 10"/>
          <p:cNvSpPr/>
          <p:nvPr/>
        </p:nvSpPr>
        <p:spPr>
          <a:xfrm>
            <a:off x="4681728" y="1097280"/>
            <a:ext cx="1188720" cy="1005840"/>
          </a:xfrm>
          <a:prstGeom prst="roundRect">
            <a:avLst>
              <a:gd name="adj" fmla="val 7273"/>
            </a:avLst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27448" y="109728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Docker Compose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1"/>
                </a:solidFill>
              </a:rPr>
              <a:t>PostgreSQL volume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888736" y="1499616"/>
            <a:ext cx="182880" cy="201168"/>
          </a:xfrm>
          <a:prstGeom prst="rightArrow">
            <a:avLst/>
          </a:prstGeom>
          <a:solidFill>
            <a:schemeClr val="accent6"/>
          </a:solidFill>
          <a:ln/>
        </p:spPr>
      </p:sp>
      <p:sp>
        <p:nvSpPr>
          <p:cNvPr id="15" name="Shape 13"/>
          <p:cNvSpPr/>
          <p:nvPr/>
        </p:nvSpPr>
        <p:spPr>
          <a:xfrm>
            <a:off x="6089904" y="1097280"/>
            <a:ext cx="1188720" cy="1005840"/>
          </a:xfrm>
          <a:prstGeom prst="roundRect">
            <a:avLst>
              <a:gd name="adj" fmla="val 7273"/>
            </a:avLst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089904" y="1097280"/>
            <a:ext cx="1188720" cy="1005840"/>
          </a:xfrm>
          <a:prstGeom prst="rect">
            <a:avLst/>
          </a:prstGeom>
          <a:solidFill>
            <a:srgbClr val="FFC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AWS EC2</a:t>
            </a:r>
            <a:endParaRPr lang="en-US" sz="14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0" indent="0" algn="ctr">
              <a:buNone/>
            </a:pPr>
            <a:r>
              <a:rPr lang="en-US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VPC, EBS, IAM</a:t>
            </a:r>
            <a:endParaRPr lang="en-US" sz="14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296912" y="1499616"/>
            <a:ext cx="182880" cy="201168"/>
          </a:xfrm>
          <a:prstGeom prst="rightArrow">
            <a:avLst/>
          </a:prstGeom>
          <a:solidFill>
            <a:schemeClr val="accent6"/>
          </a:solidFill>
          <a:ln/>
        </p:spPr>
      </p:sp>
      <p:sp>
        <p:nvSpPr>
          <p:cNvPr id="18" name="Shape 16"/>
          <p:cNvSpPr/>
          <p:nvPr/>
        </p:nvSpPr>
        <p:spPr>
          <a:xfrm>
            <a:off x="7498080" y="1097280"/>
            <a:ext cx="1188720" cy="1005840"/>
          </a:xfrm>
          <a:prstGeom prst="roundRect">
            <a:avLst>
              <a:gd name="adj" fmla="val 7273"/>
            </a:avLst>
          </a:prstGeom>
          <a:solidFill>
            <a:schemeClr val="accent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543800" y="109728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Monitoring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1"/>
                </a:solidFill>
              </a:rPr>
              <a:t>Prometheus, CloudWatch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2377440"/>
            <a:ext cx="26517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2468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SLA metrics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7889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/health endpoint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Request latency histogram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Uptime / availability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246120" y="2377440"/>
            <a:ext cx="26517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383280" y="2468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Logging &amp; monitoring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3383280" y="27889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Container logs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Prometheus scrape every 15 s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CloudWatch CPU alarm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035040" y="2377440"/>
            <a:ext cx="26517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172200" y="2468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Failure recovery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172200" y="27889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Restart container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Redeploy / rollback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EBS snapshot restore</a:t>
            </a:r>
            <a:endParaRPr lang="en-US" sz="14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6858000" cy="6172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r>
              <a:rPr lang="en-US" sz="3200" b="1" dirty="0"/>
              <a:t>                     AWS Services Used</a:t>
            </a:r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Amazon EC2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50876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Hosts the Docker Compose stack (t3.micro, Ubuntu 24.04). Why: full control, Free Tier eligible, simple single-host design.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97280"/>
            <a:ext cx="40233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00600" y="1188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VPC + Security Groups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50876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Isolated network; 80/443 public, SSH admin-only, 5432 blocked. Why: network firewall keeps the database private.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40233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0175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IAM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33756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Least-privilege users and roles for AWS access. Why: no shared root keys; scoped, auditable access.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2926080"/>
            <a:ext cx="40233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00600" y="30175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CloudWatch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333756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Basic EC2 metrics and a CPU alarm. Why: host-level view and alerts beside Prometheus.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8229600" cy="5461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r>
              <a:rPr lang="en-US" sz="3200" b="1" dirty="0"/>
              <a:t>               Docker &amp; Containerization</a:t>
            </a:r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28016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frontend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847088" y="1097280"/>
            <a:ext cx="128016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847088" y="10972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backend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36976" y="1097280"/>
            <a:ext cx="128016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236976" y="10972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postgres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26864" y="1097280"/>
            <a:ext cx="128016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26864" y="10972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prometheus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16752" y="1097280"/>
            <a:ext cx="128016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016752" y="10972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node-exporter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406640" y="1097280"/>
            <a:ext cx="128016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06640" y="10972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alertmanager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1783080"/>
            <a:ext cx="8229600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17830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Docker images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468880" y="1783080"/>
            <a:ext cx="6080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postgres:16-alpine, Prometheus v2.54.1, Alertmanager v0.27.0, own backend/frontend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2304288"/>
            <a:ext cx="8229600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23042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Dockerfiles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468880" y="2304288"/>
            <a:ext cx="6080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Backend (FastAPI) and frontend (React built, served by Nginx)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825496"/>
            <a:ext cx="8229600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" y="282549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Networking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468880" y="2825496"/>
            <a:ext cx="6080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Compose bridge network; only the frontend publishes port 80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7200" y="3346704"/>
            <a:ext cx="8229600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334670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Persistent data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468880" y="3346704"/>
            <a:ext cx="6080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Named volume cloudmonitor-prod_postgres_data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7200" y="3867912"/>
            <a:ext cx="8229600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0080" y="386791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Image registry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468880" y="3867912"/>
            <a:ext cx="6080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Built on the EC2 host; Amazon ECR is future work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Benefits: portable, isolated, reproducible. The same compose file runs locally and on EC2.</a:t>
            </a:r>
            <a:endParaRPr lang="en-US" sz="13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8445500" cy="5943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r>
              <a:rPr lang="en-US" sz="3200" dirty="0"/>
              <a:t>       </a:t>
            </a:r>
            <a:r>
              <a:rPr lang="en-US" sz="3200" b="1" dirty="0"/>
              <a:t>Virtualization &amp; Cloud Infrastructure</a:t>
            </a:r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9202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2801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2 vCPU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EC2 t3.micro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097280"/>
            <a:ext cx="19202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560320" y="12801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1 GB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8745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RAM (+2 GB swap)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19202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63440" y="12801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20 GB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754880" y="18745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gp3 EBS storage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097280"/>
            <a:ext cx="19202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66560" y="12801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Ubuntu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18745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24.04 LTS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514600"/>
            <a:ext cx="40233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26060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Virtual machine (EC2)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29260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AWS hypervisor isolates the OS; one VM hosts the whole stack.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63440" y="2514600"/>
            <a:ext cx="40233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00600" y="26060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Containers (Docker)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800600" y="29260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Share the VM kernel, start in seconds, one service per container.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3977640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4389120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3977640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Scaling: vertical t3.micro to t3.small; horizontal with more hosts behind a load balancer (future).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861300" cy="736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r>
              <a:rPr lang="en-US" sz="3200" dirty="0"/>
              <a:t>    </a:t>
            </a:r>
            <a:r>
              <a:rPr lang="en-US" sz="3200" b="1" dirty="0"/>
              <a:t>Reliability, Monitoring &amp; TTR Workflow</a:t>
            </a:r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192024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94360" y="11887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Detection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5544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Prometheus alert: backend /health down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3317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~30 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2560320" y="1097280"/>
            <a:ext cx="192024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697480" y="11887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Diagnosis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15544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docker ps and container logs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23317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~2 min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4663440" y="1097280"/>
            <a:ext cx="192024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00600" y="11887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Recovery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15544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docker compose up -d backend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23317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~1 min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6766560" y="1097280"/>
            <a:ext cx="192024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03720" y="11887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Verification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903720" y="15544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/health returns 200, login test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23317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~1 min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457200" y="3108960"/>
            <a:ext cx="822960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" y="31089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Incident trigger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468880" y="3108960"/>
            <a:ext cx="6080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docker stop cloudmonitor-backend (failure injection)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7200" y="3749040"/>
            <a:ext cx="822960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8404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416052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37490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TTR = Detection + Diagnosis + Recovery + Verification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Target TTR: 10 min   |   Measured TTR: ~4.5 min</a:t>
            </a:r>
            <a:endParaRPr lang="en-US" sz="14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823200" cy="530352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r>
              <a:rPr lang="en-US" sz="3200" dirty="0"/>
              <a:t>               </a:t>
            </a:r>
            <a:r>
              <a:rPr lang="en-US" sz="3200" b="1" dirty="0"/>
              <a:t>Performance &amp; SLA Testing</a:t>
            </a:r>
          </a:p>
        </p:txBody>
      </p:sp>
      <p:graphicFrame>
        <p:nvGraphicFramePr>
          <p:cNvPr id="5" name="Chart 0"/>
          <p:cNvGraphicFramePr/>
          <p:nvPr/>
        </p:nvGraphicFramePr>
        <p:xfrm>
          <a:off x="457200" y="1097280"/>
          <a:ext cx="411480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4754880" y="1097280"/>
            <a:ext cx="393192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937760" y="1097280"/>
            <a:ext cx="1097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Workload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1097280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50 users, 60 s (k6)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754880" y="1700784"/>
            <a:ext cx="393192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937760" y="1700784"/>
            <a:ext cx="1097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Throughput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035040" y="1700784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~85 requests/sec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754880" y="2304288"/>
            <a:ext cx="393192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937760" y="2304288"/>
            <a:ext cx="1097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Availability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035040" y="2304288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99.9% observed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754880" y="2907792"/>
            <a:ext cx="393192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937760" y="2907792"/>
            <a:ext cx="1097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Failure test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6035040" y="2907792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Backend stop, TTR ~4.5 min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754880" y="3511296"/>
            <a:ext cx="393192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937760" y="3511296"/>
            <a:ext cx="1097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SLA result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035040" y="3511296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Met (P95 under 1 s)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6858000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r>
              <a:rPr lang="en-US" dirty="0"/>
              <a:t>10. Security &amp; Cost Considerations</a:t>
            </a:r>
          </a:p>
        </p:txBody>
      </p:sp>
      <p:sp>
        <p:nvSpPr>
          <p:cNvPr id="3" name="Shape 1"/>
          <p:cNvSpPr/>
          <p:nvPr/>
        </p:nvSpPr>
        <p:spPr>
          <a:xfrm>
            <a:off x="5943600" y="4754880"/>
            <a:ext cx="2194560" cy="27432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0" y="47548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tx2"/>
                </a:solidFill>
              </a:rPr>
              <a:t>SAMPLE DATA: replace with real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09728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IAM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09728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Least-privilege roles and users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10512"/>
            <a:ext cx="402336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810512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Network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1810512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Security group; DB port 5432 closed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523744"/>
            <a:ext cx="402336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523744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Secrets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2523744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.env on host, never in Git or images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236976"/>
            <a:ext cx="402336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236976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Data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554480" y="3236976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JWT auth, hashed agent keys; HTTPS planned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097280"/>
          <a:ext cx="4023360" cy="2523744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Monthly item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₹ / month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B33"/>
                          </a:solidFill>
                        </a:rPr>
                        <a:t>EC2 t3.micro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E2B33"/>
                          </a:solidFill>
                        </a:rPr>
                        <a:t>800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B33"/>
                          </a:solidFill>
                        </a:rPr>
                        <a:t>EBS 20 GB gp3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E2B33"/>
                          </a:solidFill>
                        </a:rPr>
                        <a:t>150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B33"/>
                          </a:solidFill>
                        </a:rPr>
                        <a:t>Data transfer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E2B33"/>
                          </a:solidFill>
                        </a:rPr>
                        <a:t>50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B33"/>
                          </a:solidFill>
                        </a:rPr>
                        <a:t>CloudWatch (basic)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E2B33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E2B33"/>
                          </a:solidFill>
                        </a:rPr>
                        <a:t>Total (approx.)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1E2B33"/>
                          </a:solidFill>
                        </a:rPr>
                        <a:t>1,000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457200" y="4023360"/>
            <a:ext cx="8229600" cy="59436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40080" y="402336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Optimize: right-size the instance, stop when idle, use Free Tier, and check the AWS Pricing Calculator.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6858000" cy="772668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r>
              <a:rPr lang="en-US" sz="3200" b="1" dirty="0"/>
              <a:t>                        Demonstration</a:t>
            </a:r>
            <a:r>
              <a:rPr lang="en-US" dirty="0"/>
              <a:t> 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Repo: </a:t>
            </a:r>
            <a:r>
              <a:rPr lang="en-US" sz="1400" b="1" dirty="0">
                <a:solidFill>
                  <a:schemeClr val="tx1"/>
                </a:solidFill>
                <a:hlinkClick r:id="rId3"/>
              </a:rPr>
              <a:t>github.com/</a:t>
            </a:r>
            <a:r>
              <a:rPr lang="en-US" sz="1400" b="1" dirty="0" err="1">
                <a:solidFill>
                  <a:schemeClr val="tx1"/>
                </a:solidFill>
                <a:hlinkClick r:id="rId3"/>
              </a:rPr>
              <a:t>ayushcmd</a:t>
            </a:r>
            <a:r>
              <a:rPr lang="en-US" sz="1400" b="1" dirty="0">
                <a:solidFill>
                  <a:schemeClr val="tx1"/>
                </a:solidFill>
                <a:hlinkClick r:id="rId3"/>
              </a:rPr>
              <a:t>/</a:t>
            </a:r>
            <a:r>
              <a:rPr lang="en-US" sz="1400" b="1" dirty="0" err="1">
                <a:solidFill>
                  <a:schemeClr val="tx1"/>
                </a:solidFill>
                <a:hlinkClick r:id="rId3"/>
              </a:rPr>
              <a:t>cloud_monitor</a:t>
            </a:r>
            <a:r>
              <a:rPr lang="en-US" sz="1400" b="1" dirty="0">
                <a:solidFill>
                  <a:schemeClr val="tx1"/>
                </a:solidFill>
                <a:hlinkClick r:id="rId3"/>
              </a:rPr>
              <a:t>   </a:t>
            </a:r>
            <a:r>
              <a:rPr lang="en-US" sz="1400" b="1" dirty="0">
                <a:solidFill>
                  <a:schemeClr val="tx1"/>
                </a:solidFill>
              </a:rPr>
              <a:t>|   Demo: </a:t>
            </a:r>
            <a:r>
              <a:rPr lang="en-US" sz="1400" b="1" dirty="0">
                <a:solidFill>
                  <a:schemeClr val="tx1"/>
                </a:solidFill>
                <a:hlinkClick r:id="rId4"/>
              </a:rPr>
              <a:t>http://3.25.150.231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Run: docker compose -f docker-compose.prod.yml up -d --build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21381" y="1645920"/>
            <a:ext cx="4359179" cy="301752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pic>
        <p:nvPicPr>
          <p:cNvPr id="5" name="Image 0" descr="/mnt/user-data/uploads/dashboar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86117" y="1719072"/>
            <a:ext cx="4203003" cy="2651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4443984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6"/>
                </a:solidFill>
              </a:rPr>
              <a:t>Dashboard: hosts and containers (local Docker host)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571999" y="1627631"/>
            <a:ext cx="4385883" cy="3035809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1" name="Shape 7"/>
          <p:cNvSpPr/>
          <p:nvPr/>
        </p:nvSpPr>
        <p:spPr>
          <a:xfrm>
            <a:off x="4663440" y="1719072"/>
            <a:ext cx="4213523" cy="2651760"/>
          </a:xfrm>
          <a:prstGeom prst="roundRect">
            <a:avLst>
              <a:gd name="adj" fmla="val 4167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dash"/>
          </a:ln>
        </p:spPr>
      </p:sp>
      <p:sp>
        <p:nvSpPr>
          <p:cNvPr id="13" name="Text 9"/>
          <p:cNvSpPr txBox="1"/>
          <p:nvPr/>
        </p:nvSpPr>
        <p:spPr>
          <a:xfrm>
            <a:off x="4675472" y="4443984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6"/>
                </a:solidFill>
              </a:rPr>
              <a:t>AWS EC2 console 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1E6864B-BB3F-BFF7-DC0A-C19151D1A8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1719072"/>
            <a:ext cx="4213523" cy="265176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1" y="0"/>
            <a:ext cx="7767587" cy="6172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r>
              <a:rPr lang="en-US" b="1" dirty="0"/>
              <a:t>                                   </a:t>
            </a:r>
            <a:r>
              <a:rPr lang="en-US" sz="3200" b="1" dirty="0"/>
              <a:t>Results &amp; Key Findings</a:t>
            </a:r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1536192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Target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Observed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Result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B33"/>
                          </a:solidFill>
                        </a:rPr>
                        <a:t>Availability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B33"/>
                          </a:solidFill>
                        </a:rPr>
                        <a:t>99.5%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B33"/>
                          </a:solidFill>
                        </a:rPr>
                        <a:t>99.9%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B33"/>
                          </a:solidFill>
                        </a:rPr>
                        <a:t>Met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B33"/>
                          </a:solidFill>
                        </a:rPr>
                        <a:t>P95 latency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B33"/>
                          </a:solidFill>
                        </a:rPr>
                        <a:t>&lt; 1 s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B33"/>
                          </a:solidFill>
                        </a:rPr>
                        <a:t>310 ms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B33"/>
                          </a:solidFill>
                        </a:rPr>
                        <a:t>Met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B33"/>
                          </a:solidFill>
                        </a:rPr>
                        <a:t>TTR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B33"/>
                          </a:solidFill>
                        </a:rPr>
                        <a:t>≤ 10 min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B33"/>
                          </a:solidFill>
                        </a:rPr>
                        <a:t>~4.5 min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B33"/>
                          </a:solidFill>
                        </a:rPr>
                        <a:t>Met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2834640"/>
            <a:ext cx="265176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94360" y="29260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Functional outcome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324612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Auth, agent enrollment, container telemetry, alerts, EC2 deployment.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246120" y="2834640"/>
            <a:ext cx="265176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383280" y="29260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Cloud benefits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383280" y="324612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Operational visibility, Docker portability, low-cost AWS hosting.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035040" y="2834640"/>
            <a:ext cx="265176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172200" y="29260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Limitations</a:t>
            </a:r>
            <a:endParaRPr lang="en-US" sz="1500" dirty="0"/>
          </a:p>
        </p:txBody>
      </p:sp>
      <p:sp>
        <p:nvSpPr>
          <p:cNvPr id="5" name="Text 11"/>
          <p:cNvSpPr txBox="1"/>
          <p:nvPr/>
        </p:nvSpPr>
        <p:spPr>
          <a:xfrm>
            <a:off x="6172200" y="324612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HTTP demo, no alert receivers yet, SSH-based CD unreliable.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1" y="0"/>
            <a:ext cx="7719461" cy="768096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r>
              <a:rPr lang="en-US" sz="3200" b="1" dirty="0"/>
              <a:t>                   Evaluation Checklist</a:t>
            </a:r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512064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225296"/>
            <a:ext cx="256032" cy="256032"/>
          </a:xfrm>
          <a:prstGeom prst="ellipse">
            <a:avLst/>
          </a:prstGeom>
          <a:solidFill>
            <a:srgbClr val="92D050"/>
          </a:solidFill>
          <a:ln/>
        </p:spPr>
        <p:txBody>
          <a:bodyPr/>
          <a:lstStyle/>
          <a:p>
            <a:endParaRPr lang="en-IN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960120" y="1097280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Industry use case and problem statement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64208"/>
            <a:ext cx="4023360" cy="512064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1792224"/>
            <a:ext cx="256032" cy="256032"/>
          </a:xfrm>
          <a:prstGeom prst="ellipse">
            <a:avLst/>
          </a:prstGeom>
          <a:solidFill>
            <a:srgbClr val="92D05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1664208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End-to-end cloud architecture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231136"/>
            <a:ext cx="4023360" cy="512064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10" name="Shape 8"/>
          <p:cNvSpPr/>
          <p:nvPr/>
        </p:nvSpPr>
        <p:spPr>
          <a:xfrm>
            <a:off x="594360" y="2359152"/>
            <a:ext cx="256032" cy="256032"/>
          </a:xfrm>
          <a:prstGeom prst="ellipse">
            <a:avLst/>
          </a:prstGeom>
          <a:solidFill>
            <a:srgbClr val="92D05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0120" y="2231136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3–5 AWS services with justification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798064"/>
            <a:ext cx="4023360" cy="512064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360" y="2926080"/>
            <a:ext cx="256032" cy="256032"/>
          </a:xfrm>
          <a:prstGeom prst="ellipse">
            <a:avLst/>
          </a:prstGeom>
          <a:solidFill>
            <a:srgbClr val="92D05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0120" y="2798064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Dockerized application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364992"/>
            <a:ext cx="4023360" cy="512064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360" y="3493008"/>
            <a:ext cx="256032" cy="256032"/>
          </a:xfrm>
          <a:prstGeom prst="ellipse">
            <a:avLst/>
          </a:prstGeom>
          <a:solidFill>
            <a:srgbClr val="92D05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0120" y="3364992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Virtualization explained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3931920"/>
            <a:ext cx="4023360" cy="512064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360" y="4059936"/>
            <a:ext cx="256032" cy="256032"/>
          </a:xfrm>
          <a:prstGeom prst="ellipse">
            <a:avLst/>
          </a:prstGeom>
          <a:solidFill>
            <a:srgbClr val="92D05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60120" y="3931920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Explicit SLA metrics and targets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63440" y="1097280"/>
            <a:ext cx="4023360" cy="512064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22" name="Shape 20"/>
          <p:cNvSpPr/>
          <p:nvPr/>
        </p:nvSpPr>
        <p:spPr>
          <a:xfrm>
            <a:off x="4800600" y="1225296"/>
            <a:ext cx="256032" cy="256032"/>
          </a:xfrm>
          <a:prstGeom prst="ellipse">
            <a:avLst/>
          </a:prstGeom>
          <a:solidFill>
            <a:srgbClr val="92D05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166360" y="1097280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TTR defined and measured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663440" y="1664208"/>
            <a:ext cx="4023360" cy="512064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25" name="Shape 23"/>
          <p:cNvSpPr/>
          <p:nvPr/>
        </p:nvSpPr>
        <p:spPr>
          <a:xfrm>
            <a:off x="4800600" y="1792224"/>
            <a:ext cx="256032" cy="256032"/>
          </a:xfrm>
          <a:prstGeom prst="ellipse">
            <a:avLst/>
          </a:prstGeom>
          <a:solidFill>
            <a:srgbClr val="92D05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166360" y="1664208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Failure/recovery demonstrated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663440" y="2231136"/>
            <a:ext cx="4023360" cy="512064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28" name="Shape 26"/>
          <p:cNvSpPr/>
          <p:nvPr/>
        </p:nvSpPr>
        <p:spPr>
          <a:xfrm>
            <a:off x="4800600" y="2359152"/>
            <a:ext cx="256032" cy="256032"/>
          </a:xfrm>
          <a:prstGeom prst="ellipse">
            <a:avLst/>
          </a:prstGeom>
          <a:solidFill>
            <a:srgbClr val="92D05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166360" y="2231136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Monitoring/logging evidence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663440" y="2798064"/>
            <a:ext cx="4023360" cy="512064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31" name="Shape 29"/>
          <p:cNvSpPr/>
          <p:nvPr/>
        </p:nvSpPr>
        <p:spPr>
          <a:xfrm>
            <a:off x="4800600" y="2926080"/>
            <a:ext cx="256032" cy="256032"/>
          </a:xfrm>
          <a:prstGeom prst="ellipse">
            <a:avLst/>
          </a:prstGeom>
          <a:solidFill>
            <a:srgbClr val="92D05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166360" y="2798064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Performance, security and cost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663440" y="3364992"/>
            <a:ext cx="4023360" cy="512064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34" name="Shape 32"/>
          <p:cNvSpPr/>
          <p:nvPr/>
        </p:nvSpPr>
        <p:spPr>
          <a:xfrm>
            <a:off x="4800600" y="3493008"/>
            <a:ext cx="256032" cy="256032"/>
          </a:xfrm>
          <a:prstGeom prst="ellipse">
            <a:avLst/>
          </a:prstGeom>
          <a:solidFill>
            <a:srgbClr val="92D05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166360" y="3364992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Working demo + repository</a:t>
            </a:r>
            <a:endParaRPr lang="en-US" sz="14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1" y="0"/>
            <a:ext cx="7719461" cy="6172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r>
              <a:rPr lang="en-US" sz="3200" b="1" dirty="0"/>
              <a:t>                Conclusion &amp; Future Work</a:t>
            </a:r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Conclusion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508760"/>
            <a:ext cx="3749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Docker stack runs on AWS EC2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SLA and TTR defined and tested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Monitoring gives one health view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97280"/>
            <a:ext cx="402336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00600" y="1188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Future work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508760"/>
            <a:ext cx="3749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HTTPS with Caddy, ECR images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SSM-based CD, CloudWatch logs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Kubernetes/EKS, multi-host scaling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108960"/>
            <a:ext cx="402336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2004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Business extension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52044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Multi-tenant monitoring SaaS for small DevOps teams, with alert notifications.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3108960"/>
            <a:ext cx="402336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00600" y="32004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Learning outcomes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352044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AWS, Docker, virtualization, SLA/TTR, CI/CD and cloud deployment.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Custom 12">
      <a:dk1>
        <a:sysClr val="windowText" lastClr="000000"/>
      </a:dk1>
      <a:lt1>
        <a:srgbClr val="C4E7EA"/>
      </a:lt1>
      <a:dk2>
        <a:srgbClr val="1E5155"/>
      </a:dk2>
      <a:lt2>
        <a:srgbClr val="EBEBEB"/>
      </a:lt2>
      <a:accent1>
        <a:srgbClr val="4FB8C1"/>
      </a:accent1>
      <a:accent2>
        <a:srgbClr val="EA6312"/>
      </a:accent2>
      <a:accent3>
        <a:srgbClr val="E6B729"/>
      </a:accent3>
      <a:accent4>
        <a:srgbClr val="4FB8C1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76</TotalTime>
  <Words>1136</Words>
  <Application>Microsoft Office PowerPoint</Application>
  <PresentationFormat>On-screen Show (16:9)</PresentationFormat>
  <Paragraphs>254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Century Gothic</vt:lpstr>
      <vt:lpstr>Wingdings 3</vt:lpstr>
      <vt:lpstr>Ion</vt:lpstr>
      <vt:lpstr>CloudMonitor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Ayush Raj</cp:lastModifiedBy>
  <cp:revision>2</cp:revision>
  <dcterms:created xsi:type="dcterms:W3CDTF">2026-10-28T07:58:34Z</dcterms:created>
  <dcterms:modified xsi:type="dcterms:W3CDTF">2026-10-28T10:14:24Z</dcterms:modified>
</cp:coreProperties>
</file>