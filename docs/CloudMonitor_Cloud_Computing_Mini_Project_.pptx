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38" r:id="rId1"/>
  </p:sldMasterIdLst>
  <p:notesMasterIdLst>
    <p:notesMasterId r:id="rId17"/>
  </p:notes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B33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E2B33"/>
                </a:solidFill>
                <a:latin typeface="+mn-lt"/>
              </a:rPr>
              <a:t>Response latency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Average</c:v>
                </c:pt>
                <c:pt idx="1">
                  <c:v>P95</c:v>
                </c:pt>
                <c:pt idx="2">
                  <c:v>P99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310</c:v>
                </c:pt>
                <c:pt idx="2">
                  <c:v>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A5-464F-A3A4-9D818CDABC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"/>
        </c:scaling>
        <c:delete val="0"/>
        <c:axPos val="l"/>
        <c:majorGridlines>
          <c:spPr>
            <a:ln w="6350" cap="flat">
              <a:solidFill>
                <a:srgbClr val="D5E2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58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 slide. CloudMonitor is a self-hosted Docker host and container observability platform, built as a Cloud Computing mini project. The ship illustration is decorative.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542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801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245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504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444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558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968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7860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7495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258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826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01129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27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803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8913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9688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7834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93776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Title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366010"/>
            <a:ext cx="5074920" cy="6172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95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r>
              <a:rPr lang="en-US" sz="1950" dirty="0">
                <a:solidFill>
                  <a:schemeClr val="accent3"/>
                </a:solidFill>
              </a:rPr>
              <a:t>Subtitle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31437479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7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alphaModFix amt="2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7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40" r:id="rId2"/>
    <p:sldLayoutId id="2147484041" r:id="rId3"/>
    <p:sldLayoutId id="2147484042" r:id="rId4"/>
    <p:sldLayoutId id="2147484043" r:id="rId5"/>
    <p:sldLayoutId id="2147484044" r:id="rId6"/>
    <p:sldLayoutId id="2147484045" r:id="rId7"/>
    <p:sldLayoutId id="2147484046" r:id="rId8"/>
    <p:sldLayoutId id="2147484047" r:id="rId9"/>
    <p:sldLayoutId id="2147484048" r:id="rId10"/>
    <p:sldLayoutId id="2147484049" r:id="rId11"/>
    <p:sldLayoutId id="2147484050" r:id="rId12"/>
    <p:sldLayoutId id="2147484051" r:id="rId13"/>
    <p:sldLayoutId id="2147484052" r:id="rId14"/>
    <p:sldLayoutId id="2147484053" r:id="rId15"/>
    <p:sldLayoutId id="2147484054" r:id="rId16"/>
    <p:sldLayoutId id="2147484055" r:id="rId17"/>
    <p:sldLayoutId id="2147484056" r:id="rId18"/>
    <p:sldLayoutId id="2147484057" r:id="rId19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yushcmd/cloud_monitor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://3.25.150.231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art" descr="Decorative container ship illustration on a dark blue background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" y="0"/>
            <a:ext cx="9143771" cy="5143500"/>
          </a:xfrm>
          <a:prstGeom prst="rect">
            <a:avLst/>
          </a:prstGeom>
          <a:effectLst>
            <a:softEdge rad="0"/>
          </a:effectLst>
        </p:spPr>
      </p:pic>
      <p:sp>
        <p:nvSpPr>
          <p:cNvPr id="3" name="Text 0"/>
          <p:cNvSpPr txBox="1"/>
          <p:nvPr/>
        </p:nvSpPr>
        <p:spPr>
          <a:xfrm>
            <a:off x="548640" y="106299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spc="150" dirty="0">
                <a:solidFill>
                  <a:schemeClr val="bg1"/>
                </a:solidFill>
              </a:rPr>
              <a:t>CLOUD COMPUTING MINI PROJECT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/>
              <a:t>CloudMonitor</a:t>
            </a:r>
          </a:p>
        </p:txBody>
      </p:sp>
      <p:sp>
        <p:nvSpPr>
          <p:cNvPr id="5" name="Text 0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Docker Monitoring &amp; Observability Platform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548640" y="3703320"/>
            <a:ext cx="31546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25" b="1" dirty="0">
                <a:solidFill>
                  <a:schemeClr val="bg1"/>
                </a:solidFill>
              </a:rPr>
              <a:t>IITP – BSc CSDA </a:t>
            </a:r>
          </a:p>
          <a:p>
            <a:r>
              <a:rPr lang="en-US" sz="1125" b="1" dirty="0">
                <a:solidFill>
                  <a:schemeClr val="bg1"/>
                </a:solidFill>
              </a:rPr>
              <a:t>5</a:t>
            </a:r>
            <a:r>
              <a:rPr lang="en-US" sz="1125" b="1" baseline="30000" dirty="0">
                <a:solidFill>
                  <a:schemeClr val="bg1"/>
                </a:solidFill>
              </a:rPr>
              <a:t>th</a:t>
            </a:r>
            <a:r>
              <a:rPr lang="en-US" sz="1125" b="1" dirty="0">
                <a:solidFill>
                  <a:schemeClr val="bg1"/>
                </a:solidFill>
              </a:rPr>
              <a:t> Semester </a:t>
            </a:r>
          </a:p>
          <a:p>
            <a:r>
              <a:rPr lang="en-US" sz="1125" b="1" dirty="0">
                <a:solidFill>
                  <a:schemeClr val="bg1"/>
                </a:solidFill>
              </a:rPr>
              <a:t>2026</a:t>
            </a:r>
            <a:endParaRPr lang="en-US" sz="1125" b="1" dirty="0"/>
          </a:p>
        </p:txBody>
      </p:sp>
      <p:sp>
        <p:nvSpPr>
          <p:cNvPr id="7" name="Cover description"/>
          <p:cNvSpPr txBox="1"/>
          <p:nvPr/>
        </p:nvSpPr>
        <p:spPr>
          <a:xfrm>
            <a:off x="548640" y="3120390"/>
            <a:ext cx="31546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25" dirty="0">
                <a:solidFill>
                  <a:schemeClr val="bg1"/>
                </a:solidFill>
              </a:rPr>
              <a:t>A self-hosted dashboard for Docker host and container telemetry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180" y="114300"/>
            <a:ext cx="7119620" cy="9098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                   Project Overview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Industry / Domain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097280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IT operations and DevOps (small SaaS and dev teams)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37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 Case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737360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Monitor Docker hosts and containers from one web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377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Business Need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377440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Small teams cannot inspect every host by hand; they need one health view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0175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Target Users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017520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Developers, operators and admins running a few Docker hosts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Cloud Objective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657600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Deploy a reliable, measurable pipeline on AWS EC2 with Docker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7315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297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Team Members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42976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</a:t>
            </a:r>
            <a:r>
              <a:rPr lang="en-US" sz="1400" b="1" dirty="0"/>
              <a:t>ARNENDU DAS       :    24a12res592</a:t>
            </a:r>
          </a:p>
          <a:p>
            <a:pPr marL="0" indent="0">
              <a:buNone/>
            </a:pPr>
            <a:r>
              <a:rPr lang="en-US" sz="1400" b="1" dirty="0"/>
              <a:t>PARVEEN KUMAR     :    24a12res426</a:t>
            </a:r>
          </a:p>
          <a:p>
            <a:pPr marL="0" indent="0">
              <a:buNone/>
            </a:pPr>
            <a:r>
              <a:rPr lang="en-US" sz="1400" b="1" dirty="0"/>
              <a:t>AYUSH RAJ               :    24a12res897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749300" cy="30175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" y="0"/>
            <a:ext cx="7200900" cy="8255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10000"/>
                  </a:schemeClr>
                </a:solidFill>
              </a:rPr>
              <a:t>Industry Problem &amp; Proposed Solution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Pain point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0876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Container state is invisible across hosts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CPU and memory pressure goes unnoticed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Offline hosts and API errors stay hidden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Proposed solution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50876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 on each Docker host reports telemetry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 + PostgreSQL store and serve it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Prometheus rules watch API and host health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Expected improvement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749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Better availability, faster detection and recovery, one automated pipeline.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33756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Assumptions &amp; constraints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749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Few hosts, low budget, single EC2 instance, HTTP demo, no compliance scope.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6172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200" b="1" dirty="0"/>
              <a:t>                             SLA &amp; TTR 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517904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99.5%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Availability SLA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30552" y="1097280"/>
            <a:ext cx="1517904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30552" y="12801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&lt; 1 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221992" y="18745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API response, 95% of requests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03904" y="1097280"/>
            <a:ext cx="1517904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03904" y="12801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15 min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895344" y="18745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RTO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77256" y="1097280"/>
            <a:ext cx="1517904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77256" y="12801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24 h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568696" y="18745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RPO (daily DB dump)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50608" y="1097280"/>
            <a:ext cx="1517904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12801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≤ 10 min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242048" y="18745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TTR target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S1 Critical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42032" y="269748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542032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3D"/>
                </a:solidFill>
              </a:rPr>
              <a:t>S2 High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26864" y="269748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4A7FB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26864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S3 Medium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11696" y="269748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11696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S4 Low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229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3429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How SLA violations are detected and reported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7490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Prometheus alerts on /health down, 5xx rate and P95 latency (15 s evaluation)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Alertmanager groups alerts; each incident is logged with its severity and TTR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848600" cy="6172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200" dirty="0"/>
              <a:t>               </a:t>
            </a:r>
            <a:r>
              <a:rPr lang="en-US" sz="3200" b="1" dirty="0"/>
              <a:t>End-to-End Cloud Pipeline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0972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Users &amp; Agents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Browser, Docker host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64208" y="1499616"/>
            <a:ext cx="182880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6" name="Shape 4"/>
          <p:cNvSpPr/>
          <p:nvPr/>
        </p:nvSpPr>
        <p:spPr>
          <a:xfrm>
            <a:off x="1865376" y="109728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11096" y="10972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Public IP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HTTP :80, SG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72384" y="1499616"/>
            <a:ext cx="182880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09728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19272" y="10972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Nginx + FastAPI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JWT, /health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1499616"/>
            <a:ext cx="182880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2" name="Shape 10"/>
          <p:cNvSpPr/>
          <p:nvPr/>
        </p:nvSpPr>
        <p:spPr>
          <a:xfrm>
            <a:off x="4681728" y="109728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27448" y="10972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Docker Compose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PostgreSQL volume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88736" y="1499616"/>
            <a:ext cx="182880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9904" y="109728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89904" y="1097280"/>
            <a:ext cx="1188720" cy="100584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AWS EC2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VPC, EBS, IAM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96912" y="1499616"/>
            <a:ext cx="182880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0" y="109728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43800" y="10972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Monitoring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Prometheus, CloudWatch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26517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SLA metrics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7889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/health endpoint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Request latency histogram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Uptime / availability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2377440"/>
            <a:ext cx="26517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8328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Logging &amp; monitoring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27889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Container logs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Prometheus scrape every 15 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CloudWatch CPU alarm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2377440"/>
            <a:ext cx="26517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7220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Failure recovery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27889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Restart container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Redeploy / rollback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EBS snapshot restore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6172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200" b="1" dirty="0"/>
              <a:t>                     AWS Services Used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Amazon EC2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087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Hosts the Docker Compose stack (t3.micro, Ubuntu 24.04). Why: full control, Free Tier eligible, simple single-host design.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VPC + Security Groups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5087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Isolated network; 80/443 public, SSH admin-only, 5432 blocked. Why: network firewall keeps the database private.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IAM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375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Least-privilege users and roles for AWS access. Why: no shared root keys; scoped, auditable access.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CloudWatch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3375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Basic EC2 metrics and a CPU alarm. Why: host-level view and alerts beside Prometheus.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5461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200" b="1" dirty="0"/>
              <a:t>               Docker &amp; Containerization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frontend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47088" y="109728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47088" y="1097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backend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36976" y="109728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36976" y="1097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postgres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26864" y="109728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6864" y="1097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prometheus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16752" y="109728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16752" y="1097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node-exporter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09728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1097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alertmanager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78308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Docker images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178308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postgres:16-alpine, Prometheus v2.54.1, Alertmanager v0.27.0, own backend/frontend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304288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2304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Dockerfiles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2304288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Backend (FastAPI) and frontend (React built, served by Nginx)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825496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825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Networking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2825496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Compose bridge network; only the frontend publishes port 80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346704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346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Persistent data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468880" y="3346704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Named volume cloudmonitor-prod_postgres_data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867912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38679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Image registry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468880" y="3867912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Built on the EC2 host; Amazon ECR is future work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Benefits: portable, isolated, reproducible. The same compose file runs locally and on EC2.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4455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200" dirty="0"/>
              <a:t>       </a:t>
            </a:r>
            <a:r>
              <a:rPr lang="en-US" sz="3200" b="1" dirty="0"/>
              <a:t>Virtualization &amp; Cloud Infrastructure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 vCPU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EC2 t3.micro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6032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 GB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RAM (+2 GB swap)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 GB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gp3 EBS storage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Ubuntu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24.04 LTS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Virtual machine (EC2)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AWS hypervisor isolates the OS; one VM hosts the whole stack.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51460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0060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Containers (Docker)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Share the VM kernel, start in seconds, one service per container.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38912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9776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Scaling: vertical t3.micro to t3.small; horizontal with more hosts behind a load balancer (future).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861300" cy="736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200" dirty="0"/>
              <a:t>    </a:t>
            </a:r>
            <a:r>
              <a:rPr lang="en-US" sz="3200" b="1" dirty="0"/>
              <a:t>Reliability, Monitoring &amp; TTR Workflow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Detection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54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Prometheus alert: backend /health down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~30 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748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Diagnosis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554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 ps and container logs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~2 min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060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Recovery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554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 compose up -d backend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~1 min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766560" y="109728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372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Verification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554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/health returns 200, login test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~1 min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Incident trigger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3108960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 stop cloudmonitor-backend (failure injection)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160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7490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TTR = Detection + Diagnosis + Recovery + Verification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Target TTR: 10 min   |   Measured TTR: ~4.5 min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823200" cy="53035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200" dirty="0"/>
              <a:t>               </a:t>
            </a:r>
            <a:r>
              <a:rPr lang="en-US" sz="3200" b="1" dirty="0"/>
              <a:t>Performance &amp; SLA Testing</a:t>
            </a:r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9728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097280"/>
            <a:ext cx="393192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37760" y="109728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Workload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0972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50 users, 60 s (k6)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700784"/>
            <a:ext cx="393192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937760" y="170078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Throughput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170078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~85 requests/sec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2304288"/>
            <a:ext cx="393192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937760" y="230428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Availability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230428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99.9% observed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54880" y="2907792"/>
            <a:ext cx="393192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937760" y="29077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Failure test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290779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Backend stop, TTR ~4.5 min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54880" y="3511296"/>
            <a:ext cx="393192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937760" y="351129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SLA result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351129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Met (P95 under 1 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10. Security &amp; Cost Considerations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IAM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097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Least-privilege roles and users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40233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1051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Network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8105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Security group; DB port 5432 closed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23744"/>
            <a:ext cx="40233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2374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Secrets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5237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.env on host, never in Git or images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40233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23697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23697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JWT auth, hashed agent keys; HTTPS planned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97280"/>
          <a:ext cx="4023360" cy="252374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Monthly item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₹ / month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EC2 t3.micro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800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EBS 20 GB gp3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Data transfer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CloudWatch (basic)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B33"/>
                          </a:solidFill>
                        </a:rPr>
                        <a:t>Total (approx.)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E2B33"/>
                          </a:solidFill>
                        </a:rPr>
                        <a:t>1,000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Optimize: right-size the instance, stop when idle, use Free Tier, and check the AWS Pricing Calculator.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7726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200" b="1" dirty="0"/>
              <a:t>                        Demonstration</a:t>
            </a:r>
            <a:r>
              <a:rPr lang="en-US" dirty="0"/>
              <a:t> 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Repo: </a:t>
            </a:r>
            <a:r>
              <a:rPr lang="en-US" sz="1400" b="1" dirty="0">
                <a:solidFill>
                  <a:schemeClr val="tx1"/>
                </a:solidFill>
                <a:hlinkClick r:id="rId3"/>
              </a:rPr>
              <a:t>github.com/</a:t>
            </a:r>
            <a:r>
              <a:rPr lang="en-US" sz="1400" b="1" dirty="0" err="1">
                <a:solidFill>
                  <a:schemeClr val="tx1"/>
                </a:solidFill>
                <a:hlinkClick r:id="rId3"/>
              </a:rPr>
              <a:t>ayushcmd</a:t>
            </a:r>
            <a:r>
              <a:rPr lang="en-US" sz="1400" b="1" dirty="0">
                <a:solidFill>
                  <a:schemeClr val="tx1"/>
                </a:solidFill>
                <a:hlinkClick r:id="rId3"/>
              </a:rPr>
              <a:t>/</a:t>
            </a:r>
            <a:r>
              <a:rPr lang="en-US" sz="1400" b="1" dirty="0" err="1">
                <a:solidFill>
                  <a:schemeClr val="tx1"/>
                </a:solidFill>
                <a:hlinkClick r:id="rId3"/>
              </a:rPr>
              <a:t>cloud_monitor</a:t>
            </a:r>
            <a:r>
              <a:rPr lang="en-US" sz="1400" b="1" dirty="0">
                <a:solidFill>
                  <a:schemeClr val="tx1"/>
                </a:solidFill>
                <a:hlinkClick r:id="rId3"/>
              </a:rPr>
              <a:t>   </a:t>
            </a:r>
            <a:r>
              <a:rPr lang="en-US" sz="1400" b="1" dirty="0">
                <a:solidFill>
                  <a:schemeClr val="tx1"/>
                </a:solidFill>
              </a:rPr>
              <a:t>|   Demo: </a:t>
            </a:r>
            <a:r>
              <a:rPr lang="en-US" sz="1400" b="1" dirty="0">
                <a:solidFill>
                  <a:schemeClr val="tx1"/>
                </a:solidFill>
                <a:hlinkClick r:id="rId4"/>
              </a:rPr>
              <a:t>http://3.25.150.231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Run: docker compose -f docker-compose.prod.yml up -d --build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1381" y="1645920"/>
            <a:ext cx="4359179" cy="30175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5" name="Image 0" descr="/mnt/user-data/uploads/dashboar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6117" y="1719072"/>
            <a:ext cx="4203003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443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Dashboard: hosts and containers (local Docker host)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1999" y="1627631"/>
            <a:ext cx="4385883" cy="3035809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4663440" y="1719072"/>
            <a:ext cx="4213523" cy="26517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4675472" y="4443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AWS EC2 console 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1E6864B-BB3F-BFF7-DC0A-C19151D1A8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719072"/>
            <a:ext cx="4213523" cy="26517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" y="0"/>
            <a:ext cx="7767587" cy="6172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b="1" dirty="0"/>
              <a:t>                                   </a:t>
            </a:r>
            <a:r>
              <a:rPr lang="en-US" sz="3200" b="1" dirty="0"/>
              <a:t>Results &amp; Key Findings</a:t>
            </a: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Observed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Availability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99.5%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99.9%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Met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P95 latency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&lt; 1 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310 ms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Met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TTR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≤ 10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~4.5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B33"/>
                          </a:solidFill>
                        </a:rPr>
                        <a:t>Met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834640"/>
            <a:ext cx="26517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Functional outcome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2461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Auth, agent enrollment, container telemetry, alerts, EC2 deployment.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46120" y="2834640"/>
            <a:ext cx="26517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8328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Cloud benefits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32461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Operational visibility, Docker portability, low-cost AWS hosting.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2834640"/>
            <a:ext cx="26517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7220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5" name="Text 11"/>
          <p:cNvSpPr txBox="1"/>
          <p:nvPr/>
        </p:nvSpPr>
        <p:spPr>
          <a:xfrm>
            <a:off x="6172200" y="32461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HTTP demo, no alert receivers yet, SSH-based CD unreliable.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" y="0"/>
            <a:ext cx="7719461" cy="76809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200" b="1" dirty="0"/>
              <a:t>                   Evaluation Checklist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225296"/>
            <a:ext cx="256032" cy="256032"/>
          </a:xfrm>
          <a:prstGeom prst="ellipse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en-IN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960120" y="109728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Industry use case and problem statement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02336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792224"/>
            <a:ext cx="256032" cy="256032"/>
          </a:xfrm>
          <a:prstGeom prst="ellipse">
            <a:avLst/>
          </a:prstGeom>
          <a:solidFill>
            <a:srgbClr val="92D0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166420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End-to-end cloud architecture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31136"/>
            <a:ext cx="402336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359152"/>
            <a:ext cx="256032" cy="256032"/>
          </a:xfrm>
          <a:prstGeom prst="ellipse">
            <a:avLst/>
          </a:prstGeom>
          <a:solidFill>
            <a:srgbClr val="92D0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2231136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3–5 AWS services with justification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402336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926080"/>
            <a:ext cx="256032" cy="256032"/>
          </a:xfrm>
          <a:prstGeom prst="ellipse">
            <a:avLst/>
          </a:prstGeom>
          <a:solidFill>
            <a:srgbClr val="92D0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2798064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Dockerized application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402336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493008"/>
            <a:ext cx="256032" cy="256032"/>
          </a:xfrm>
          <a:prstGeom prst="ellipse">
            <a:avLst/>
          </a:prstGeom>
          <a:solidFill>
            <a:srgbClr val="92D0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336499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Virtualization explained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402336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4059936"/>
            <a:ext cx="256032" cy="256032"/>
          </a:xfrm>
          <a:prstGeom prst="ellipse">
            <a:avLst/>
          </a:prstGeom>
          <a:solidFill>
            <a:srgbClr val="92D0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393192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Explicit SLA metrics and targets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402336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1225296"/>
            <a:ext cx="256032" cy="256032"/>
          </a:xfrm>
          <a:prstGeom prst="ellipse">
            <a:avLst/>
          </a:prstGeom>
          <a:solidFill>
            <a:srgbClr val="92D0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166360" y="109728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TTR defined and measured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1664208"/>
            <a:ext cx="402336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1792224"/>
            <a:ext cx="256032" cy="256032"/>
          </a:xfrm>
          <a:prstGeom prst="ellipse">
            <a:avLst/>
          </a:prstGeom>
          <a:solidFill>
            <a:srgbClr val="92D0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66360" y="166420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Failure/recovery demonstrated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2231136"/>
            <a:ext cx="402336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8" name="Shape 26"/>
          <p:cNvSpPr/>
          <p:nvPr/>
        </p:nvSpPr>
        <p:spPr>
          <a:xfrm>
            <a:off x="4800600" y="2359152"/>
            <a:ext cx="256032" cy="256032"/>
          </a:xfrm>
          <a:prstGeom prst="ellipse">
            <a:avLst/>
          </a:prstGeom>
          <a:solidFill>
            <a:srgbClr val="92D05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166360" y="2231136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Monitoring/logging evidence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2798064"/>
            <a:ext cx="402336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31" name="Shape 29"/>
          <p:cNvSpPr/>
          <p:nvPr/>
        </p:nvSpPr>
        <p:spPr>
          <a:xfrm>
            <a:off x="4800600" y="2926080"/>
            <a:ext cx="256032" cy="256032"/>
          </a:xfrm>
          <a:prstGeom prst="ellipse">
            <a:avLst/>
          </a:prstGeom>
          <a:solidFill>
            <a:srgbClr val="92D05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166360" y="2798064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Performance, security and cost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3364992"/>
            <a:ext cx="402336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34" name="Shape 32"/>
          <p:cNvSpPr/>
          <p:nvPr/>
        </p:nvSpPr>
        <p:spPr>
          <a:xfrm>
            <a:off x="4800600" y="3493008"/>
            <a:ext cx="256032" cy="256032"/>
          </a:xfrm>
          <a:prstGeom prst="ellipse">
            <a:avLst/>
          </a:prstGeom>
          <a:solidFill>
            <a:srgbClr val="92D05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166360" y="336499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Working demo + repository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" y="0"/>
            <a:ext cx="7719461" cy="6172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200" b="1" dirty="0"/>
              <a:t>                Conclusion &amp; Future Work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0876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Docker stack runs on AWS EC2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SLA and TTR defined and tested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Monitoring gives one health 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50876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HTTPS with Caddy, ECR images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SSM-based CD, CloudWatch logs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Kubernetes/EKS, multi-host scaling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Business extension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Multi-tenant monitoring SaaS for small DevOps teams, with alert notifications.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1089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Learning outcomes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AWS, Docker, virtualization, SLA/TTR, CI/CD and cloud deployment.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Custom 12">
      <a:dk1>
        <a:sysClr val="windowText" lastClr="000000"/>
      </a:dk1>
      <a:lt1>
        <a:srgbClr val="C4E7EA"/>
      </a:lt1>
      <a:dk2>
        <a:srgbClr val="1E5155"/>
      </a:dk2>
      <a:lt2>
        <a:srgbClr val="EBEBEB"/>
      </a:lt2>
      <a:accent1>
        <a:srgbClr val="4FB8C1"/>
      </a:accent1>
      <a:accent2>
        <a:srgbClr val="EA6312"/>
      </a:accent2>
      <a:accent3>
        <a:srgbClr val="E6B729"/>
      </a:accent3>
      <a:accent4>
        <a:srgbClr val="4FB8C1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84</TotalTime>
  <Words>1130</Words>
  <Application>Microsoft Office PowerPoint</Application>
  <PresentationFormat>On-screen Show (16:9)</PresentationFormat>
  <Paragraphs>253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</vt:lpstr>
      <vt:lpstr>CloudMonitor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Raj</cp:lastModifiedBy>
  <cp:revision>3</cp:revision>
  <dcterms:created xsi:type="dcterms:W3CDTF">2026-10-28T07:58:34Z</dcterms:created>
  <dcterms:modified xsi:type="dcterms:W3CDTF">2026-10-29T13:53:55Z</dcterms:modified>
</cp:coreProperties>
</file>